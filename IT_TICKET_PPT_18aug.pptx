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3.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4.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5.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6.xml" ContentType="application/vnd.openxmlformats-officedocument.presentationml.notesSl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7.xml" ContentType="application/vnd.openxmlformats-officedocument.presentationml.notesSlid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8.xml" ContentType="application/vnd.openxmlformats-officedocument.presentationml.notesSlid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4"/>
  </p:notesMasterIdLst>
  <p:sldIdLst>
    <p:sldId id="256" r:id="rId2"/>
    <p:sldId id="282" r:id="rId3"/>
    <p:sldId id="298" r:id="rId4"/>
    <p:sldId id="274" r:id="rId5"/>
    <p:sldId id="258" r:id="rId6"/>
    <p:sldId id="273" r:id="rId7"/>
    <p:sldId id="283" r:id="rId8"/>
    <p:sldId id="284" r:id="rId9"/>
    <p:sldId id="285" r:id="rId10"/>
    <p:sldId id="286" r:id="rId11"/>
    <p:sldId id="287" r:id="rId12"/>
    <p:sldId id="288" r:id="rId13"/>
    <p:sldId id="290" r:id="rId14"/>
    <p:sldId id="291" r:id="rId15"/>
    <p:sldId id="292" r:id="rId16"/>
    <p:sldId id="293" r:id="rId17"/>
    <p:sldId id="294" r:id="rId18"/>
    <p:sldId id="295" r:id="rId19"/>
    <p:sldId id="268" r:id="rId20"/>
    <p:sldId id="269" r:id="rId21"/>
    <p:sldId id="297" r:id="rId22"/>
    <p:sldId id="270" r:id="rId23"/>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B42"/>
    <a:srgbClr val="00C6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Template%20(IT%20Tickets)%20(1)%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mchar\Downloads\4c0d2b9cf9634ce694178b37ee1211b2\IT_TICKET_ANALYSIS_PROJECT\IT_TICKET_ANALYSIS_EXCEL.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mchar\Downloads\4c0d2b9cf9634ce694178b37ee1211b2\IT_TICKET_ANALYSIS_PROJECT\IT_TICKET_ANALYSIS_EXCEL.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[Template (IT Tickets) (1) (1).xlsx]Q-10 I Objective!PivotTable2</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circle"/>
          <c:size val="4"/>
          <c:spPr>
            <a:solidFill>
              <a:schemeClr val="accent1"/>
            </a:solidFill>
            <a:ln w="9525">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circle"/>
          <c:size val="4"/>
          <c:spPr>
            <a:solidFill>
              <a:schemeClr val="accent1"/>
            </a:solidFill>
            <a:ln w="9525">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circle"/>
          <c:size val="4"/>
          <c:spPr>
            <a:solidFill>
              <a:schemeClr val="accent1"/>
            </a:solidFill>
            <a:ln w="9525">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9228972685504289"/>
          <c:y val="0.19576744186046513"/>
          <c:w val="0.75543619091409198"/>
          <c:h val="0.61268229262039908"/>
        </c:manualLayout>
      </c:layout>
      <c:lineChart>
        <c:grouping val="standard"/>
        <c:varyColors val="0"/>
        <c:ser>
          <c:idx val="0"/>
          <c:order val="0"/>
          <c:tx>
            <c:strRef>
              <c:f>'Q-10 I Objective'!$C$9</c:f>
              <c:strCache>
                <c:ptCount val="1"/>
                <c:pt idx="0">
                  <c:v>Total</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'Q-10 I Objective'!$B$10:$B$15</c:f>
              <c:strCache>
                <c:ptCount val="5"/>
                <c:pt idx="0">
                  <c:v>2016</c:v>
                </c:pt>
                <c:pt idx="1">
                  <c:v>2017</c:v>
                </c:pt>
                <c:pt idx="2">
                  <c:v>2018</c:v>
                </c:pt>
                <c:pt idx="3">
                  <c:v>2019</c:v>
                </c:pt>
                <c:pt idx="4">
                  <c:v>2020</c:v>
                </c:pt>
              </c:strCache>
            </c:strRef>
          </c:cat>
          <c:val>
            <c:numRef>
              <c:f>'Q-10 I Objective'!$C$10:$C$15</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811B-4C13-B434-B9AA10A07885}"/>
            </c:ext>
          </c:extLst>
        </c:ser>
        <c:dLbls>
          <c:dLblPos val="t"/>
          <c:showLegendKey val="0"/>
          <c:showVal val="1"/>
          <c:showCatName val="0"/>
          <c:showSerName val="0"/>
          <c:showPercent val="0"/>
          <c:showBubbleSize val="0"/>
        </c:dLbls>
        <c:marker val="1"/>
        <c:smooth val="0"/>
        <c:axId val="340952072"/>
        <c:axId val="340954120"/>
      </c:lineChart>
      <c:catAx>
        <c:axId val="3409520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IN"/>
                  <a:t>Year</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solidFill>
                <a:latin typeface="+mn-lt"/>
                <a:ea typeface="+mn-ea"/>
                <a:cs typeface="+mn-cs"/>
              </a:defRPr>
            </a:pPr>
            <a:endParaRPr lang="en-US"/>
          </a:p>
        </c:txPr>
        <c:crossAx val="340954120"/>
        <c:crosses val="autoZero"/>
        <c:auto val="1"/>
        <c:lblAlgn val="ctr"/>
        <c:lblOffset val="100"/>
        <c:noMultiLvlLbl val="0"/>
      </c:catAx>
      <c:valAx>
        <c:axId val="340954120"/>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IN"/>
                  <a:t>Ticket Count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340952072"/>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[IT_TICKET_ANALYSIS_EXCEL (1).xlsx]Q-4 I Objective!PivotTable1</c:name>
    <c:fmtId val="31"/>
  </c:pivotSource>
  <c:chart>
    <c:autoTitleDeleted val="1"/>
    <c:pivotFmts>
      <c:pivotFmt>
        <c:idx val="0"/>
        <c:dLbl>
          <c:idx val="0"/>
          <c:delete val="1"/>
          <c:extLst>
            <c:ext xmlns:c15="http://schemas.microsoft.com/office/drawing/2012/chart" uri="{CE6537A1-D6FC-4f65-9D91-7224C49458BB}"/>
          </c:extLst>
        </c:dLbl>
      </c:pivotFmt>
      <c:pivotFmt>
        <c:idx val="1"/>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2"/>
        <c:dLbl>
          <c:idx val="0"/>
          <c:layout>
            <c:manualLayout>
              <c:x val="4.9943685545117628E-3"/>
              <c:y val="1.5822513755152756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3"/>
      </c:pivotFmt>
      <c:pivotFmt>
        <c:idx val="4"/>
      </c:pivotFmt>
      <c:pivotFmt>
        <c:idx val="5"/>
      </c:pivotFmt>
      <c:pivotFmt>
        <c:idx val="6"/>
        <c:marker>
          <c:symbol val="none"/>
        </c:marker>
        <c:dLbl>
          <c:idx val="0"/>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7"/>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8"/>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dLbl>
          <c:idx val="0"/>
          <c:layout>
            <c:manualLayout>
              <c:x val="4.9943685545117628E-3"/>
              <c:y val="1.5822513755152756E-2"/>
            </c:manualLayout>
          </c:layout>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9"/>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10"/>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
        <c:idx val="11"/>
        <c:marker>
          <c:symbol val="none"/>
        </c:marker>
        <c:dLbl>
          <c:idx val="0"/>
          <c:delete val="1"/>
          <c:extLst>
            <c:ext xmlns:c15="http://schemas.microsoft.com/office/drawing/2012/chart" uri="{CE6537A1-D6FC-4f65-9D91-7224C49458BB}"/>
          </c:extLst>
        </c:dLbl>
      </c:pivotFmt>
      <c:pivotFmt>
        <c:idx val="12"/>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13"/>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pivotFmt>
      <c:pivotFmt>
        <c:idx val="14"/>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15"/>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
        <c:idx val="16"/>
        <c:marker>
          <c:symbol val="none"/>
        </c:marker>
        <c:dLbl>
          <c:idx val="0"/>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7"/>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18"/>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dLbl>
          <c:idx val="0"/>
          <c:layout>
            <c:manualLayout>
              <c:x val="4.9943685545117628E-3"/>
              <c:y val="1.5822513755152756E-2"/>
            </c:manualLayout>
          </c:layout>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9"/>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20"/>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
        <c:idx val="21"/>
        <c:marker>
          <c:symbol val="none"/>
        </c:marker>
        <c:dLbl>
          <c:idx val="0"/>
          <c:delete val="1"/>
          <c:extLst>
            <c:ext xmlns:c15="http://schemas.microsoft.com/office/drawing/2012/chart" uri="{CE6537A1-D6FC-4f65-9D91-7224C49458BB}"/>
          </c:extLst>
        </c:dLbl>
      </c:pivotFmt>
      <c:pivotFmt>
        <c:idx val="22"/>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23"/>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pivotFmt>
      <c:pivotFmt>
        <c:idx val="24"/>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25"/>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
        <c:idx val="26"/>
        <c:marker>
          <c:symbol val="none"/>
        </c:marker>
        <c:dLbl>
          <c:idx val="0"/>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7"/>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28"/>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dLbl>
          <c:idx val="0"/>
          <c:layout>
            <c:manualLayout>
              <c:x val="4.9943685545117628E-3"/>
              <c:y val="1.5822513755152756E-2"/>
            </c:manualLayout>
          </c:layout>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9"/>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30"/>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
        <c:idx val="31"/>
        <c:marker>
          <c:symbol val="none"/>
        </c:marker>
        <c:dLbl>
          <c:idx val="0"/>
          <c:delete val="1"/>
          <c:extLst>
            <c:ext xmlns:c15="http://schemas.microsoft.com/office/drawing/2012/chart" uri="{CE6537A1-D6FC-4f65-9D91-7224C49458BB}"/>
          </c:extLst>
        </c:dLbl>
      </c:pivotFmt>
      <c:pivotFmt>
        <c:idx val="32"/>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pivotFmt>
      <c:pivotFmt>
        <c:idx val="33"/>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pivotFmt>
      <c:pivotFmt>
        <c:idx val="34"/>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pivotFmt>
      <c:pivotFmt>
        <c:idx val="35"/>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pivotFmt>
    </c:pivotFmts>
    <c:plotArea>
      <c:layout/>
      <c:pieChart>
        <c:varyColors val="1"/>
        <c:ser>
          <c:idx val="0"/>
          <c:order val="0"/>
          <c:tx>
            <c:strRef>
              <c:f>'Q-4 I Objective'!$C$6</c:f>
              <c:strCache>
                <c:ptCount val="1"/>
                <c:pt idx="0">
                  <c:v>Count of ID Ticket2</c:v>
                </c:pt>
              </c:strCache>
            </c:strRef>
          </c:tx>
          <c:dPt>
            <c:idx val="0"/>
            <c:bubble3D val="0"/>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extLst>
              <c:ext xmlns:c16="http://schemas.microsoft.com/office/drawing/2014/chart" uri="{C3380CC4-5D6E-409C-BE32-E72D297353CC}">
                <c16:uniqueId val="{00000001-3AC6-480D-90AA-A83B7D58CD08}"/>
              </c:ext>
            </c:extLst>
          </c:dPt>
          <c:dPt>
            <c:idx val="1"/>
            <c:bubble3D val="0"/>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extLst>
              <c:ext xmlns:c16="http://schemas.microsoft.com/office/drawing/2014/chart" uri="{C3380CC4-5D6E-409C-BE32-E72D297353CC}">
                <c16:uniqueId val="{00000003-3AC6-480D-90AA-A83B7D58CD08}"/>
              </c:ext>
            </c:extLst>
          </c:dPt>
          <c:dPt>
            <c:idx val="2"/>
            <c:bubble3D val="0"/>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extLst>
              <c:ext xmlns:c16="http://schemas.microsoft.com/office/drawing/2014/chart" uri="{C3380CC4-5D6E-409C-BE32-E72D297353CC}">
                <c16:uniqueId val="{00000005-3AC6-480D-90AA-A83B7D58CD08}"/>
              </c:ext>
            </c:extLst>
          </c:dPt>
          <c:dPt>
            <c:idx val="3"/>
            <c:bubble3D val="0"/>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extLst>
              <c:ext xmlns:c16="http://schemas.microsoft.com/office/drawing/2014/chart" uri="{C3380CC4-5D6E-409C-BE32-E72D297353CC}">
                <c16:uniqueId val="{00000007-3AC6-480D-90AA-A83B7D58CD08}"/>
              </c:ext>
            </c:extLst>
          </c:dPt>
          <c:dLbls>
            <c:dLbl>
              <c:idx val="1"/>
              <c:layout>
                <c:manualLayout>
                  <c:x val="4.9943685545117628E-3"/>
                  <c:y val="1.5822513755152756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AC6-480D-90AA-A83B7D58CD08}"/>
                </c:ext>
              </c:extLst>
            </c:dLbl>
            <c:spPr>
              <a:solidFill>
                <a:srgbClr val="FFFFFF">
                  <a:alpha val="73000"/>
                </a:srgbClr>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2">
                        <a:lumMod val="7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'Q-4 I Objective'!$B$7:$B$11</c:f>
              <c:strCache>
                <c:ptCount val="4"/>
                <c:pt idx="0">
                  <c:v>Hardware</c:v>
                </c:pt>
                <c:pt idx="1">
                  <c:v>Login Access</c:v>
                </c:pt>
                <c:pt idx="2">
                  <c:v>Software</c:v>
                </c:pt>
                <c:pt idx="3">
                  <c:v>System</c:v>
                </c:pt>
              </c:strCache>
            </c:strRef>
          </c:cat>
          <c:val>
            <c:numRef>
              <c:f>'Q-4 I Objective'!$C$7:$C$11</c:f>
              <c:numCache>
                <c:formatCode>General</c:formatCode>
                <c:ptCount val="4"/>
                <c:pt idx="0">
                  <c:v>9.9827688773103038E-2</c:v>
                </c:pt>
                <c:pt idx="1">
                  <c:v>0.29942152659541732</c:v>
                </c:pt>
                <c:pt idx="2">
                  <c:v>0.20072206609366347</c:v>
                </c:pt>
                <c:pt idx="3">
                  <c:v>0.40002871853781619</c:v>
                </c:pt>
              </c:numCache>
            </c:numRef>
          </c:val>
          <c:extLst>
            <c:ext xmlns:c16="http://schemas.microsoft.com/office/drawing/2014/chart" uri="{C3380CC4-5D6E-409C-BE32-E72D297353CC}">
              <c16:uniqueId val="{00000008-3AC6-480D-90AA-A83B7D58CD08}"/>
            </c:ext>
          </c:extLst>
        </c:ser>
        <c:ser>
          <c:idx val="1"/>
          <c:order val="1"/>
          <c:tx>
            <c:strRef>
              <c:f>'Q-4 I Objective'!$D$6</c:f>
              <c:strCache>
                <c:ptCount val="1"/>
                <c:pt idx="0">
                  <c:v>Count of ID Ticket</c:v>
                </c:pt>
              </c:strCache>
            </c:strRef>
          </c:tx>
          <c:dPt>
            <c:idx val="0"/>
            <c:bubble3D val="0"/>
            <c:spPr>
              <a:gradFill rotWithShape="1">
                <a:gsLst>
                  <a:gs pos="0">
                    <a:schemeClr val="accent5">
                      <a:tint val="58000"/>
                      <a:satMod val="103000"/>
                      <a:lumMod val="102000"/>
                      <a:tint val="94000"/>
                    </a:schemeClr>
                  </a:gs>
                  <a:gs pos="50000">
                    <a:schemeClr val="accent5">
                      <a:tint val="58000"/>
                      <a:satMod val="110000"/>
                      <a:lumMod val="100000"/>
                      <a:shade val="100000"/>
                    </a:schemeClr>
                  </a:gs>
                  <a:gs pos="100000">
                    <a:schemeClr val="accent5">
                      <a:tint val="58000"/>
                      <a:lumMod val="99000"/>
                      <a:satMod val="120000"/>
                      <a:shade val="78000"/>
                    </a:schemeClr>
                  </a:gs>
                </a:gsLst>
                <a:lin ang="5400000" scaled="0"/>
              </a:gradFill>
              <a:ln>
                <a:noFill/>
              </a:ln>
              <a:effectLst/>
            </c:spPr>
            <c:extLst>
              <c:ext xmlns:c16="http://schemas.microsoft.com/office/drawing/2014/chart" uri="{C3380CC4-5D6E-409C-BE32-E72D297353CC}">
                <c16:uniqueId val="{0000000A-3AC6-480D-90AA-A83B7D58CD08}"/>
              </c:ext>
            </c:extLst>
          </c:dPt>
          <c:dPt>
            <c:idx val="1"/>
            <c:bubble3D val="0"/>
            <c:spPr>
              <a:gradFill rotWithShape="1">
                <a:gsLst>
                  <a:gs pos="0">
                    <a:schemeClr val="accent5">
                      <a:tint val="86000"/>
                      <a:satMod val="103000"/>
                      <a:lumMod val="102000"/>
                      <a:tint val="94000"/>
                    </a:schemeClr>
                  </a:gs>
                  <a:gs pos="50000">
                    <a:schemeClr val="accent5">
                      <a:tint val="86000"/>
                      <a:satMod val="110000"/>
                      <a:lumMod val="100000"/>
                      <a:shade val="100000"/>
                    </a:schemeClr>
                  </a:gs>
                  <a:gs pos="100000">
                    <a:schemeClr val="accent5">
                      <a:tint val="86000"/>
                      <a:lumMod val="99000"/>
                      <a:satMod val="120000"/>
                      <a:shade val="78000"/>
                    </a:schemeClr>
                  </a:gs>
                </a:gsLst>
                <a:lin ang="5400000" scaled="0"/>
              </a:gradFill>
              <a:ln>
                <a:noFill/>
              </a:ln>
              <a:effectLst/>
            </c:spPr>
            <c:extLst>
              <c:ext xmlns:c16="http://schemas.microsoft.com/office/drawing/2014/chart" uri="{C3380CC4-5D6E-409C-BE32-E72D297353CC}">
                <c16:uniqueId val="{0000000C-3AC6-480D-90AA-A83B7D58CD08}"/>
              </c:ext>
            </c:extLst>
          </c:dPt>
          <c:dPt>
            <c:idx val="2"/>
            <c:bubble3D val="0"/>
            <c:spPr>
              <a:gradFill rotWithShape="1">
                <a:gsLst>
                  <a:gs pos="0">
                    <a:schemeClr val="accent5">
                      <a:shade val="86000"/>
                      <a:satMod val="103000"/>
                      <a:lumMod val="102000"/>
                      <a:tint val="94000"/>
                    </a:schemeClr>
                  </a:gs>
                  <a:gs pos="50000">
                    <a:schemeClr val="accent5">
                      <a:shade val="86000"/>
                      <a:satMod val="110000"/>
                      <a:lumMod val="100000"/>
                      <a:shade val="100000"/>
                    </a:schemeClr>
                  </a:gs>
                  <a:gs pos="100000">
                    <a:schemeClr val="accent5">
                      <a:shade val="86000"/>
                      <a:lumMod val="99000"/>
                      <a:satMod val="120000"/>
                      <a:shade val="78000"/>
                    </a:schemeClr>
                  </a:gs>
                </a:gsLst>
                <a:lin ang="5400000" scaled="0"/>
              </a:gradFill>
              <a:ln>
                <a:noFill/>
              </a:ln>
              <a:effectLst/>
            </c:spPr>
            <c:extLst>
              <c:ext xmlns:c16="http://schemas.microsoft.com/office/drawing/2014/chart" uri="{C3380CC4-5D6E-409C-BE32-E72D297353CC}">
                <c16:uniqueId val="{0000000E-3AC6-480D-90AA-A83B7D58CD08}"/>
              </c:ext>
            </c:extLst>
          </c:dPt>
          <c:dPt>
            <c:idx val="3"/>
            <c:bubble3D val="0"/>
            <c:spPr>
              <a:gradFill rotWithShape="1">
                <a:gsLst>
                  <a:gs pos="0">
                    <a:schemeClr val="accent5">
                      <a:shade val="58000"/>
                      <a:satMod val="103000"/>
                      <a:lumMod val="102000"/>
                      <a:tint val="94000"/>
                    </a:schemeClr>
                  </a:gs>
                  <a:gs pos="50000">
                    <a:schemeClr val="accent5">
                      <a:shade val="58000"/>
                      <a:satMod val="110000"/>
                      <a:lumMod val="100000"/>
                      <a:shade val="100000"/>
                    </a:schemeClr>
                  </a:gs>
                  <a:gs pos="100000">
                    <a:schemeClr val="accent5">
                      <a:shade val="58000"/>
                      <a:lumMod val="99000"/>
                      <a:satMod val="120000"/>
                      <a:shade val="78000"/>
                    </a:schemeClr>
                  </a:gs>
                </a:gsLst>
                <a:lin ang="5400000" scaled="0"/>
              </a:gradFill>
              <a:ln>
                <a:noFill/>
              </a:ln>
              <a:effectLst/>
            </c:spPr>
            <c:extLst>
              <c:ext xmlns:c16="http://schemas.microsoft.com/office/drawing/2014/chart" uri="{C3380CC4-5D6E-409C-BE32-E72D297353CC}">
                <c16:uniqueId val="{00000010-3AC6-480D-90AA-A83B7D58CD08}"/>
              </c:ext>
            </c:extLst>
          </c:dPt>
          <c:cat>
            <c:strRef>
              <c:f>'Q-4 I Objective'!$B$7:$B$11</c:f>
              <c:strCache>
                <c:ptCount val="4"/>
                <c:pt idx="0">
                  <c:v>Hardware</c:v>
                </c:pt>
                <c:pt idx="1">
                  <c:v>Login Access</c:v>
                </c:pt>
                <c:pt idx="2">
                  <c:v>Software</c:v>
                </c:pt>
                <c:pt idx="3">
                  <c:v>System</c:v>
                </c:pt>
              </c:strCache>
            </c:strRef>
          </c:cat>
          <c:val>
            <c:numRef>
              <c:f>'Q-4 I Objective'!$D$7:$D$11</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11-3AC6-480D-90AA-A83B7D58CD08}"/>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2">
          <a:lumMod val="15000"/>
          <a:lumOff val="85000"/>
        </a:schemeClr>
      </a:solid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(1).xlsx]Q-5 I Objective!PivotTable1</c:name>
    <c:fmtId val="2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'Q-5 I Objective'!$C$7</c:f>
              <c:strCache>
                <c:ptCount val="1"/>
                <c:pt idx="0">
                  <c:v>Total</c:v>
                </c:pt>
              </c:strCache>
            </c:strRef>
          </c:tx>
          <c:spPr>
            <a:solidFill>
              <a:schemeClr val="accent1"/>
            </a:solidFill>
            <a:ln>
              <a:noFill/>
            </a:ln>
            <a:effectLst/>
          </c:spPr>
          <c:invertIfNegative val="0"/>
          <c:dLbls>
            <c:delete val="1"/>
          </c:dLbls>
          <c:cat>
            <c:strRef>
              <c:f>'Q-5 I Objective'!$B$8:$B$58</c:f>
              <c:strCache>
                <c:ptCount val="50"/>
                <c:pt idx="0">
                  <c:v>Aurelio Tanori</c:v>
                </c:pt>
                <c:pt idx="1">
                  <c:v>Jesus Contreras</c:v>
                </c:pt>
                <c:pt idx="2">
                  <c:v>Elena Velez</c:v>
                </c:pt>
                <c:pt idx="3">
                  <c:v>Melinda</c:v>
                </c:pt>
                <c:pt idx="4">
                  <c:v>Barbara Grijalva</c:v>
                </c:pt>
                <c:pt idx="5">
                  <c:v>Willyberto Gonzales</c:v>
                </c:pt>
                <c:pt idx="6">
                  <c:v>Galindo Guadalupe</c:v>
                </c:pt>
                <c:pt idx="7">
                  <c:v>Barraza Alberto</c:v>
                </c:pt>
                <c:pt idx="8">
                  <c:v>Guadalupe Torrico</c:v>
                </c:pt>
                <c:pt idx="9">
                  <c:v>Alfonso Barraza</c:v>
                </c:pt>
                <c:pt idx="10">
                  <c:v>Alberto Casillas</c:v>
                </c:pt>
                <c:pt idx="11">
                  <c:v>Silvia Morales</c:v>
                </c:pt>
                <c:pt idx="12">
                  <c:v>Mata Lucero</c:v>
                </c:pt>
                <c:pt idx="13">
                  <c:v>JesusGrajeda</c:v>
                </c:pt>
                <c:pt idx="14">
                  <c:v>Isela Leyva</c:v>
                </c:pt>
                <c:pt idx="15">
                  <c:v>Lorena</c:v>
                </c:pt>
                <c:pt idx="16">
                  <c:v>Aldo Carrillo</c:v>
                </c:pt>
                <c:pt idx="17">
                  <c:v>Flores Sierra</c:v>
                </c:pt>
                <c:pt idx="18">
                  <c:v>Parra Luna</c:v>
                </c:pt>
                <c:pt idx="19">
                  <c:v>Leon Lourdes</c:v>
                </c:pt>
                <c:pt idx="20">
                  <c:v>Marisol Piedrahita</c:v>
                </c:pt>
                <c:pt idx="21">
                  <c:v>Guadalupe Villanueva</c:v>
                </c:pt>
                <c:pt idx="22">
                  <c:v>Lopez Moran.</c:v>
                </c:pt>
                <c:pt idx="23">
                  <c:v>Rosa Olguin</c:v>
                </c:pt>
                <c:pt idx="24">
                  <c:v>Ramon Macias</c:v>
                </c:pt>
                <c:pt idx="25">
                  <c:v>Velasquez Jose</c:v>
                </c:pt>
                <c:pt idx="26">
                  <c:v>A. Trejo</c:v>
                </c:pt>
                <c:pt idx="27">
                  <c:v>Nurio Zepeda</c:v>
                </c:pt>
                <c:pt idx="28">
                  <c:v>Darwin E.</c:v>
                </c:pt>
                <c:pt idx="29">
                  <c:v>Eva Cardenas</c:v>
                </c:pt>
                <c:pt idx="30">
                  <c:v>EstuardoTorres</c:v>
                </c:pt>
                <c:pt idx="31">
                  <c:v>Enrique Montiel</c:v>
                </c:pt>
                <c:pt idx="32">
                  <c:v>Estuardo Ocaño</c:v>
                </c:pt>
                <c:pt idx="33">
                  <c:v>Yomaira Agudelo</c:v>
                </c:pt>
                <c:pt idx="34">
                  <c:v>Segura Garcia</c:v>
                </c:pt>
                <c:pt idx="35">
                  <c:v>Jesus Pacheco</c:v>
                </c:pt>
                <c:pt idx="36">
                  <c:v>Luis Arguello</c:v>
                </c:pt>
                <c:pt idx="37">
                  <c:v>Diana Rojo</c:v>
                </c:pt>
                <c:pt idx="38">
                  <c:v>Orci Carlos</c:v>
                </c:pt>
                <c:pt idx="39">
                  <c:v>Eduardo Luna</c:v>
                </c:pt>
                <c:pt idx="40">
                  <c:v>Alfredo Barreras</c:v>
                </c:pt>
                <c:pt idx="41">
                  <c:v>Guadalupe Hernandez</c:v>
                </c:pt>
                <c:pt idx="42">
                  <c:v>Luis Torres</c:v>
                </c:pt>
                <c:pt idx="43">
                  <c:v>Sandra Lujan </c:v>
                </c:pt>
                <c:pt idx="44">
                  <c:v>Javier D.</c:v>
                </c:pt>
                <c:pt idx="45">
                  <c:v>Reyna Santacruz</c:v>
                </c:pt>
                <c:pt idx="46">
                  <c:v>Miller Gaviria</c:v>
                </c:pt>
                <c:pt idx="47">
                  <c:v>Armando Sierra</c:v>
                </c:pt>
                <c:pt idx="48">
                  <c:v>Alberto Gastelum</c:v>
                </c:pt>
                <c:pt idx="49">
                  <c:v>Griselda Galindo</c:v>
                </c:pt>
              </c:strCache>
            </c:strRef>
          </c:cat>
          <c:val>
            <c:numRef>
              <c:f>'Q-5 I Objective'!$C$8:$C$58</c:f>
              <c:numCache>
                <c:formatCode>General</c:formatCode>
                <c:ptCount val="50"/>
                <c:pt idx="0">
                  <c:v>2027</c:v>
                </c:pt>
                <c:pt idx="1">
                  <c:v>2026</c:v>
                </c:pt>
                <c:pt idx="2">
                  <c:v>2021</c:v>
                </c:pt>
                <c:pt idx="3">
                  <c:v>2007</c:v>
                </c:pt>
                <c:pt idx="4">
                  <c:v>2003</c:v>
                </c:pt>
                <c:pt idx="5">
                  <c:v>2000</c:v>
                </c:pt>
                <c:pt idx="6">
                  <c:v>1991</c:v>
                </c:pt>
                <c:pt idx="7">
                  <c:v>1988</c:v>
                </c:pt>
                <c:pt idx="8">
                  <c:v>1987</c:v>
                </c:pt>
                <c:pt idx="9">
                  <c:v>1984</c:v>
                </c:pt>
                <c:pt idx="10">
                  <c:v>1974</c:v>
                </c:pt>
                <c:pt idx="11">
                  <c:v>1974</c:v>
                </c:pt>
                <c:pt idx="12">
                  <c:v>1969</c:v>
                </c:pt>
                <c:pt idx="13">
                  <c:v>1968</c:v>
                </c:pt>
                <c:pt idx="14">
                  <c:v>1968</c:v>
                </c:pt>
                <c:pt idx="15">
                  <c:v>1966</c:v>
                </c:pt>
                <c:pt idx="16">
                  <c:v>1966</c:v>
                </c:pt>
                <c:pt idx="17">
                  <c:v>1963</c:v>
                </c:pt>
                <c:pt idx="18">
                  <c:v>1963</c:v>
                </c:pt>
                <c:pt idx="19">
                  <c:v>1961</c:v>
                </c:pt>
                <c:pt idx="20">
                  <c:v>1960</c:v>
                </c:pt>
                <c:pt idx="21">
                  <c:v>1958</c:v>
                </c:pt>
                <c:pt idx="22">
                  <c:v>1956</c:v>
                </c:pt>
                <c:pt idx="23">
                  <c:v>1950</c:v>
                </c:pt>
                <c:pt idx="24">
                  <c:v>1949</c:v>
                </c:pt>
                <c:pt idx="25">
                  <c:v>1949</c:v>
                </c:pt>
                <c:pt idx="26">
                  <c:v>1949</c:v>
                </c:pt>
                <c:pt idx="27">
                  <c:v>1946</c:v>
                </c:pt>
                <c:pt idx="28">
                  <c:v>1945</c:v>
                </c:pt>
                <c:pt idx="29">
                  <c:v>1943</c:v>
                </c:pt>
                <c:pt idx="30">
                  <c:v>1942</c:v>
                </c:pt>
                <c:pt idx="31">
                  <c:v>1938</c:v>
                </c:pt>
                <c:pt idx="32">
                  <c:v>1935</c:v>
                </c:pt>
                <c:pt idx="33">
                  <c:v>1933</c:v>
                </c:pt>
                <c:pt idx="34">
                  <c:v>1931</c:v>
                </c:pt>
                <c:pt idx="35">
                  <c:v>1931</c:v>
                </c:pt>
                <c:pt idx="36">
                  <c:v>1929</c:v>
                </c:pt>
                <c:pt idx="37">
                  <c:v>1927</c:v>
                </c:pt>
                <c:pt idx="38">
                  <c:v>1926</c:v>
                </c:pt>
                <c:pt idx="39">
                  <c:v>1920</c:v>
                </c:pt>
                <c:pt idx="40">
                  <c:v>1920</c:v>
                </c:pt>
                <c:pt idx="41">
                  <c:v>1915</c:v>
                </c:pt>
                <c:pt idx="42">
                  <c:v>1913</c:v>
                </c:pt>
                <c:pt idx="43">
                  <c:v>1906</c:v>
                </c:pt>
                <c:pt idx="44">
                  <c:v>1897</c:v>
                </c:pt>
                <c:pt idx="45">
                  <c:v>1897</c:v>
                </c:pt>
                <c:pt idx="46">
                  <c:v>1892</c:v>
                </c:pt>
                <c:pt idx="47">
                  <c:v>1890</c:v>
                </c:pt>
                <c:pt idx="48">
                  <c:v>1889</c:v>
                </c:pt>
                <c:pt idx="49">
                  <c:v>1856</c:v>
                </c:pt>
              </c:numCache>
            </c:numRef>
          </c:val>
          <c:extLst>
            <c:ext xmlns:c16="http://schemas.microsoft.com/office/drawing/2014/chart" uri="{C3380CC4-5D6E-409C-BE32-E72D297353CC}">
              <c16:uniqueId val="{00000000-E200-45B8-B130-619F532247B1}"/>
            </c:ext>
          </c:extLst>
        </c:ser>
        <c:dLbls>
          <c:dLblPos val="outEnd"/>
          <c:showLegendKey val="0"/>
          <c:showVal val="1"/>
          <c:showCatName val="0"/>
          <c:showSerName val="0"/>
          <c:showPercent val="0"/>
          <c:showBubbleSize val="0"/>
        </c:dLbls>
        <c:gapWidth val="219"/>
        <c:overlap val="-27"/>
        <c:axId val="1519621824"/>
        <c:axId val="439440384"/>
      </c:barChart>
      <c:catAx>
        <c:axId val="1519621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9440384"/>
        <c:crosses val="autoZero"/>
        <c:auto val="1"/>
        <c:lblAlgn val="ctr"/>
        <c:lblOffset val="100"/>
        <c:noMultiLvlLbl val="0"/>
      </c:catAx>
      <c:valAx>
        <c:axId val="439440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96218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(1).xlsx]Q-8 I Objective!PivotTable3</c:name>
    <c:fmtId val="12"/>
  </c:pivotSource>
  <c:chart>
    <c:autoTitleDeleted val="1"/>
    <c:pivotFmts>
      <c:pivotFmt>
        <c:idx val="0"/>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s>
    <c:plotArea>
      <c:layout/>
      <c:doughnutChart>
        <c:varyColors val="1"/>
        <c:ser>
          <c:idx val="0"/>
          <c:order val="0"/>
          <c:tx>
            <c:strRef>
              <c:f>'Q-8 I Objective'!$C$7</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C79-4AB0-BE1B-E39DC26218D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C79-4AB0-BE1B-E39DC26218D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'Q-8 I Objective'!$B$8:$B$10</c:f>
              <c:strCache>
                <c:ptCount val="2"/>
                <c:pt idx="0">
                  <c:v>IT Error</c:v>
                </c:pt>
                <c:pt idx="1">
                  <c:v>IT Request</c:v>
                </c:pt>
              </c:strCache>
            </c:strRef>
          </c:cat>
          <c:val>
            <c:numRef>
              <c:f>'Q-8 I Objective'!$C$8:$C$10</c:f>
              <c:numCache>
                <c:formatCode>General</c:formatCode>
                <c:ptCount val="2"/>
                <c:pt idx="0">
                  <c:v>24278</c:v>
                </c:pt>
                <c:pt idx="1">
                  <c:v>73220</c:v>
                </c:pt>
              </c:numCache>
            </c:numRef>
          </c:val>
          <c:extLst>
            <c:ext xmlns:c16="http://schemas.microsoft.com/office/drawing/2014/chart" uri="{C3380CC4-5D6E-409C-BE32-E72D297353CC}">
              <c16:uniqueId val="{00000004-DC79-4AB0-BE1B-E39DC26218D5}"/>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(1).xlsx]Q-12 I Objective!PivotTable7</c:name>
    <c:fmtId val="67"/>
  </c:pivotSource>
  <c:chart>
    <c:autoTitleDeleted val="1"/>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'Q-12 I Objective'!$C$14</c:f>
              <c:strCache>
                <c:ptCount val="1"/>
                <c:pt idx="0">
                  <c:v>Total</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'Q-12 I Objective'!$B$15:$B$20</c:f>
              <c:strCache>
                <c:ptCount val="5"/>
                <c:pt idx="0">
                  <c:v>0</c:v>
                </c:pt>
                <c:pt idx="1">
                  <c:v>1</c:v>
                </c:pt>
                <c:pt idx="2">
                  <c:v>2</c:v>
                </c:pt>
                <c:pt idx="3">
                  <c:v>3</c:v>
                </c:pt>
                <c:pt idx="4">
                  <c:v>4</c:v>
                </c:pt>
              </c:strCache>
            </c:strRef>
          </c:cat>
          <c:val>
            <c:numRef>
              <c:f>'Q-12 I Objective'!$C$15:$C$20</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AE24-40B8-B770-A8CA189AC6C2}"/>
            </c:ext>
          </c:extLst>
        </c:ser>
        <c:dLbls>
          <c:dLblPos val="outEnd"/>
          <c:showLegendKey val="0"/>
          <c:showVal val="1"/>
          <c:showCatName val="0"/>
          <c:showSerName val="0"/>
          <c:showPercent val="0"/>
          <c:showBubbleSize val="0"/>
        </c:dLbls>
        <c:gapWidth val="315"/>
        <c:overlap val="-40"/>
        <c:axId val="438919680"/>
        <c:axId val="490784256"/>
      </c:barChart>
      <c:catAx>
        <c:axId val="438919680"/>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90784256"/>
        <c:crosses val="autoZero"/>
        <c:auto val="1"/>
        <c:lblAlgn val="ctr"/>
        <c:lblOffset val="100"/>
        <c:noMultiLvlLbl val="0"/>
      </c:catAx>
      <c:valAx>
        <c:axId val="49078425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389196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(1).xlsx]Q-1 I Subjective!PivotTable5</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000" b="1"/>
              <a:t>Resolution Type and</a:t>
            </a:r>
            <a:r>
              <a:rPr lang="en-IN" sz="1000" b="1" baseline="0"/>
              <a:t> Satisfaction by request category</a:t>
            </a:r>
            <a:endParaRPr lang="en-IN" sz="1000"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'Q-1 I Subjective'!$B$9</c:f>
              <c:strCache>
                <c:ptCount val="1"/>
                <c:pt idx="0">
                  <c:v>Average of Resolution Time (Days)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 I Subjective'!$A$10:$A$14</c:f>
              <c:strCache>
                <c:ptCount val="4"/>
                <c:pt idx="0">
                  <c:v>Hardware</c:v>
                </c:pt>
                <c:pt idx="1">
                  <c:v>Login Access</c:v>
                </c:pt>
                <c:pt idx="2">
                  <c:v>Software</c:v>
                </c:pt>
                <c:pt idx="3">
                  <c:v>System</c:v>
                </c:pt>
              </c:strCache>
            </c:strRef>
          </c:cat>
          <c:val>
            <c:numRef>
              <c:f>'Q-1 I Subjective'!$B$10:$B$14</c:f>
              <c:numCache>
                <c:formatCode>0.00</c:formatCode>
                <c:ptCount val="4"/>
                <c:pt idx="0">
                  <c:v>7.6253981300729476</c:v>
                </c:pt>
                <c:pt idx="1">
                  <c:v>0.31380810468262937</c:v>
                </c:pt>
                <c:pt idx="2">
                  <c:v>5.2387327542156363</c:v>
                </c:pt>
                <c:pt idx="3">
                  <c:v>6.6156094559253376</c:v>
                </c:pt>
              </c:numCache>
            </c:numRef>
          </c:val>
          <c:extLst>
            <c:ext xmlns:c16="http://schemas.microsoft.com/office/drawing/2014/chart" uri="{C3380CC4-5D6E-409C-BE32-E72D297353CC}">
              <c16:uniqueId val="{00000000-3801-458F-888B-C48B1D8213A5}"/>
            </c:ext>
          </c:extLst>
        </c:ser>
        <c:ser>
          <c:idx val="2"/>
          <c:order val="2"/>
          <c:tx>
            <c:strRef>
              <c:f>'Q-1 I Subjective'!$D$9</c:f>
              <c:strCache>
                <c:ptCount val="1"/>
                <c:pt idx="0">
                  <c:v>Average of Satisfaction Rate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 I Subjective'!$A$10:$A$14</c:f>
              <c:strCache>
                <c:ptCount val="4"/>
                <c:pt idx="0">
                  <c:v>Hardware</c:v>
                </c:pt>
                <c:pt idx="1">
                  <c:v>Login Access</c:v>
                </c:pt>
                <c:pt idx="2">
                  <c:v>Software</c:v>
                </c:pt>
                <c:pt idx="3">
                  <c:v>System</c:v>
                </c:pt>
              </c:strCache>
            </c:strRef>
          </c:cat>
          <c:val>
            <c:numRef>
              <c:f>'Q-1 I Subjective'!$D$10:$D$14</c:f>
              <c:numCache>
                <c:formatCode>0.00</c:formatCode>
                <c:ptCount val="4"/>
                <c:pt idx="0">
                  <c:v>4.1009966094729275</c:v>
                </c:pt>
                <c:pt idx="1">
                  <c:v>4.0945089576268288</c:v>
                </c:pt>
                <c:pt idx="2">
                  <c:v>4.106336228921819</c:v>
                </c:pt>
                <c:pt idx="3">
                  <c:v>4.1023024460284088</c:v>
                </c:pt>
              </c:numCache>
            </c:numRef>
          </c:val>
          <c:extLst>
            <c:ext xmlns:c16="http://schemas.microsoft.com/office/drawing/2014/chart" uri="{C3380CC4-5D6E-409C-BE32-E72D297353CC}">
              <c16:uniqueId val="{00000001-3801-458F-888B-C48B1D8213A5}"/>
            </c:ext>
          </c:extLst>
        </c:ser>
        <c:dLbls>
          <c:showLegendKey val="0"/>
          <c:showVal val="1"/>
          <c:showCatName val="0"/>
          <c:showSerName val="0"/>
          <c:showPercent val="0"/>
          <c:showBubbleSize val="0"/>
        </c:dLbls>
        <c:gapWidth val="219"/>
        <c:overlap val="-27"/>
        <c:axId val="880846575"/>
        <c:axId val="349455023"/>
      </c:barChart>
      <c:barChart>
        <c:barDir val="col"/>
        <c:grouping val="clustered"/>
        <c:varyColors val="0"/>
        <c:ser>
          <c:idx val="1"/>
          <c:order val="1"/>
          <c:tx>
            <c:strRef>
              <c:f>'Q-1 I Subjective'!$C$9</c:f>
              <c:strCache>
                <c:ptCount val="1"/>
                <c:pt idx="0">
                  <c:v>Count of ID Ticket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 I Subjective'!$A$10:$A$14</c:f>
              <c:strCache>
                <c:ptCount val="4"/>
                <c:pt idx="0">
                  <c:v>Hardware</c:v>
                </c:pt>
                <c:pt idx="1">
                  <c:v>Login Access</c:v>
                </c:pt>
                <c:pt idx="2">
                  <c:v>Software</c:v>
                </c:pt>
                <c:pt idx="3">
                  <c:v>System</c:v>
                </c:pt>
              </c:strCache>
            </c:strRef>
          </c:cat>
          <c:val>
            <c:numRef>
              <c:f>'Q-1 I Subjective'!$C$10:$C$14</c:f>
              <c:numCache>
                <c:formatCode>0.00</c:formatCode>
                <c:ptCount val="4"/>
                <c:pt idx="0">
                  <c:v>9733</c:v>
                </c:pt>
                <c:pt idx="1">
                  <c:v>29193</c:v>
                </c:pt>
                <c:pt idx="2">
                  <c:v>19570</c:v>
                </c:pt>
                <c:pt idx="3">
                  <c:v>39002</c:v>
                </c:pt>
              </c:numCache>
            </c:numRef>
          </c:val>
          <c:extLst>
            <c:ext xmlns:c16="http://schemas.microsoft.com/office/drawing/2014/chart" uri="{C3380CC4-5D6E-409C-BE32-E72D297353CC}">
              <c16:uniqueId val="{00000002-3801-458F-888B-C48B1D8213A5}"/>
            </c:ext>
          </c:extLst>
        </c:ser>
        <c:dLbls>
          <c:showLegendKey val="0"/>
          <c:showVal val="1"/>
          <c:showCatName val="0"/>
          <c:showSerName val="0"/>
          <c:showPercent val="0"/>
          <c:showBubbleSize val="0"/>
        </c:dLbls>
        <c:gapWidth val="219"/>
        <c:overlap val="-27"/>
        <c:axId val="880934735"/>
        <c:axId val="349634063"/>
      </c:barChart>
      <c:catAx>
        <c:axId val="880846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9455023"/>
        <c:crosses val="autoZero"/>
        <c:auto val="1"/>
        <c:lblAlgn val="ctr"/>
        <c:lblOffset val="100"/>
        <c:noMultiLvlLbl val="0"/>
      </c:catAx>
      <c:valAx>
        <c:axId val="34945502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0846575"/>
        <c:crosses val="autoZero"/>
        <c:crossBetween val="between"/>
      </c:valAx>
      <c:valAx>
        <c:axId val="349634063"/>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0934735"/>
        <c:crosses val="max"/>
        <c:crossBetween val="between"/>
      </c:valAx>
      <c:catAx>
        <c:axId val="880934735"/>
        <c:scaling>
          <c:orientation val="minMax"/>
        </c:scaling>
        <c:delete val="1"/>
        <c:axPos val="b"/>
        <c:numFmt formatCode="General" sourceLinked="1"/>
        <c:majorTickMark val="out"/>
        <c:minorTickMark val="none"/>
        <c:tickLblPos val="nextTo"/>
        <c:crossAx val="3496340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(1).xlsx]Q-2 I Subjective!PivotTable5</c:name>
    <c:fmtId val="16"/>
  </c:pivotSource>
  <c:chart>
    <c:autoTitleDeleted val="1"/>
    <c:pivotFmts>
      <c:pivotFmt>
        <c:idx val="0"/>
        <c:spPr>
          <a:solidFill>
            <a:schemeClr val="accent1"/>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'Q-2 I Subjective'!$H$7</c:f>
              <c:strCache>
                <c:ptCount val="1"/>
                <c:pt idx="0">
                  <c:v>Average of Average of Satisfaction Rate</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'Q-2 I Subjective'!$G$8:$G$22</c:f>
              <c:strCache>
                <c:ptCount val="14"/>
                <c:pt idx="0">
                  <c:v>A. Trejo</c:v>
                </c:pt>
                <c:pt idx="1">
                  <c:v>Alfonso Barraza</c:v>
                </c:pt>
                <c:pt idx="2">
                  <c:v>Elena Velez</c:v>
                </c:pt>
                <c:pt idx="3">
                  <c:v>Estuardo Ocaño</c:v>
                </c:pt>
                <c:pt idx="4">
                  <c:v>EstuardoTorres</c:v>
                </c:pt>
                <c:pt idx="5">
                  <c:v>Flores Sierra</c:v>
                </c:pt>
                <c:pt idx="6">
                  <c:v>Guadalupe Villanueva</c:v>
                </c:pt>
                <c:pt idx="7">
                  <c:v>Jesus Pacheco</c:v>
                </c:pt>
                <c:pt idx="8">
                  <c:v>Lopez Moran.</c:v>
                </c:pt>
                <c:pt idx="9">
                  <c:v>Lorena</c:v>
                </c:pt>
                <c:pt idx="10">
                  <c:v>Miller Gaviria</c:v>
                </c:pt>
                <c:pt idx="11">
                  <c:v>Nurio Zepeda</c:v>
                </c:pt>
                <c:pt idx="12">
                  <c:v>Parra Luna</c:v>
                </c:pt>
                <c:pt idx="13">
                  <c:v>Sandra Lujan </c:v>
                </c:pt>
              </c:strCache>
            </c:strRef>
          </c:cat>
          <c:val>
            <c:numRef>
              <c:f>'Q-2 I Subjective'!$H$8:$H$22</c:f>
              <c:numCache>
                <c:formatCode>0.00</c:formatCode>
                <c:ptCount val="14"/>
                <c:pt idx="0">
                  <c:v>3.59</c:v>
                </c:pt>
                <c:pt idx="1">
                  <c:v>3.04</c:v>
                </c:pt>
                <c:pt idx="2">
                  <c:v>3.62</c:v>
                </c:pt>
                <c:pt idx="3">
                  <c:v>3.98</c:v>
                </c:pt>
                <c:pt idx="4">
                  <c:v>4.09</c:v>
                </c:pt>
                <c:pt idx="5">
                  <c:v>3.99</c:v>
                </c:pt>
                <c:pt idx="6">
                  <c:v>3.63</c:v>
                </c:pt>
                <c:pt idx="7">
                  <c:v>3.66</c:v>
                </c:pt>
                <c:pt idx="8">
                  <c:v>3.64</c:v>
                </c:pt>
                <c:pt idx="9">
                  <c:v>3.63</c:v>
                </c:pt>
                <c:pt idx="10">
                  <c:v>3.99</c:v>
                </c:pt>
                <c:pt idx="11">
                  <c:v>3.61</c:v>
                </c:pt>
                <c:pt idx="12">
                  <c:v>3.85</c:v>
                </c:pt>
                <c:pt idx="13">
                  <c:v>3.6</c:v>
                </c:pt>
              </c:numCache>
            </c:numRef>
          </c:val>
          <c:extLst>
            <c:ext xmlns:c16="http://schemas.microsoft.com/office/drawing/2014/chart" uri="{C3380CC4-5D6E-409C-BE32-E72D297353CC}">
              <c16:uniqueId val="{00000000-38D0-4C44-9BFD-7FD7235584C5}"/>
            </c:ext>
          </c:extLst>
        </c:ser>
        <c:ser>
          <c:idx val="1"/>
          <c:order val="1"/>
          <c:tx>
            <c:strRef>
              <c:f>'Q-2 I Subjective'!$I$7</c:f>
              <c:strCache>
                <c:ptCount val="1"/>
                <c:pt idx="0">
                  <c:v>Average of Average of Resolution Time (Days)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'Q-2 I Subjective'!$G$8:$G$22</c:f>
              <c:strCache>
                <c:ptCount val="14"/>
                <c:pt idx="0">
                  <c:v>A. Trejo</c:v>
                </c:pt>
                <c:pt idx="1">
                  <c:v>Alfonso Barraza</c:v>
                </c:pt>
                <c:pt idx="2">
                  <c:v>Elena Velez</c:v>
                </c:pt>
                <c:pt idx="3">
                  <c:v>Estuardo Ocaño</c:v>
                </c:pt>
                <c:pt idx="4">
                  <c:v>EstuardoTorres</c:v>
                </c:pt>
                <c:pt idx="5">
                  <c:v>Flores Sierra</c:v>
                </c:pt>
                <c:pt idx="6">
                  <c:v>Guadalupe Villanueva</c:v>
                </c:pt>
                <c:pt idx="7">
                  <c:v>Jesus Pacheco</c:v>
                </c:pt>
                <c:pt idx="8">
                  <c:v>Lopez Moran.</c:v>
                </c:pt>
                <c:pt idx="9">
                  <c:v>Lorena</c:v>
                </c:pt>
                <c:pt idx="10">
                  <c:v>Miller Gaviria</c:v>
                </c:pt>
                <c:pt idx="11">
                  <c:v>Nurio Zepeda</c:v>
                </c:pt>
                <c:pt idx="12">
                  <c:v>Parra Luna</c:v>
                </c:pt>
                <c:pt idx="13">
                  <c:v>Sandra Lujan </c:v>
                </c:pt>
              </c:strCache>
            </c:strRef>
          </c:cat>
          <c:val>
            <c:numRef>
              <c:f>'Q-2 I Subjective'!$I$8:$I$22</c:f>
              <c:numCache>
                <c:formatCode>0.00</c:formatCode>
                <c:ptCount val="14"/>
                <c:pt idx="0">
                  <c:v>5.32</c:v>
                </c:pt>
                <c:pt idx="1">
                  <c:v>5</c:v>
                </c:pt>
                <c:pt idx="2">
                  <c:v>5.38</c:v>
                </c:pt>
                <c:pt idx="3">
                  <c:v>5.52</c:v>
                </c:pt>
                <c:pt idx="4">
                  <c:v>4.9000000000000004</c:v>
                </c:pt>
                <c:pt idx="5">
                  <c:v>4.75</c:v>
                </c:pt>
                <c:pt idx="6">
                  <c:v>4.8</c:v>
                </c:pt>
                <c:pt idx="7">
                  <c:v>4.5999999999999996</c:v>
                </c:pt>
                <c:pt idx="8">
                  <c:v>4.78</c:v>
                </c:pt>
                <c:pt idx="9">
                  <c:v>5.51</c:v>
                </c:pt>
                <c:pt idx="10">
                  <c:v>4.7300000000000004</c:v>
                </c:pt>
                <c:pt idx="11">
                  <c:v>5.41</c:v>
                </c:pt>
                <c:pt idx="12">
                  <c:v>4.87</c:v>
                </c:pt>
                <c:pt idx="13">
                  <c:v>5.2</c:v>
                </c:pt>
              </c:numCache>
            </c:numRef>
          </c:val>
          <c:extLst>
            <c:ext xmlns:c16="http://schemas.microsoft.com/office/drawing/2014/chart" uri="{C3380CC4-5D6E-409C-BE32-E72D297353CC}">
              <c16:uniqueId val="{00000001-38D0-4C44-9BFD-7FD7235584C5}"/>
            </c:ext>
          </c:extLst>
        </c:ser>
        <c:dLbls>
          <c:dLblPos val="outEnd"/>
          <c:showLegendKey val="0"/>
          <c:showVal val="1"/>
          <c:showCatName val="0"/>
          <c:showSerName val="0"/>
          <c:showPercent val="0"/>
          <c:showBubbleSize val="0"/>
        </c:dLbls>
        <c:gapWidth val="182"/>
        <c:axId val="1636605391"/>
        <c:axId val="345860911"/>
      </c:barChart>
      <c:catAx>
        <c:axId val="16366053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5860911"/>
        <c:crosses val="autoZero"/>
        <c:auto val="1"/>
        <c:lblAlgn val="ctr"/>
        <c:lblOffset val="100"/>
        <c:noMultiLvlLbl val="0"/>
      </c:catAx>
      <c:valAx>
        <c:axId val="345860911"/>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66053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(1).xlsx]Q-4 I Subjective!PivotTable9</c:name>
    <c:fmtId val="25"/>
  </c:pivotSource>
  <c:chart>
    <c:autoTitleDeleted val="1"/>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'Q-4 I Subjective'!$C$10</c:f>
              <c:strCache>
                <c:ptCount val="1"/>
                <c:pt idx="0">
                  <c:v>Average of Resolution Time (Days)</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'Q-4 I Subjective'!$B$11:$B$15</c:f>
              <c:strCache>
                <c:ptCount val="4"/>
                <c:pt idx="0">
                  <c:v>Hardware</c:v>
                </c:pt>
                <c:pt idx="1">
                  <c:v>Login Access</c:v>
                </c:pt>
                <c:pt idx="2">
                  <c:v>Software</c:v>
                </c:pt>
                <c:pt idx="3">
                  <c:v>System</c:v>
                </c:pt>
              </c:strCache>
            </c:strRef>
          </c:cat>
          <c:val>
            <c:numRef>
              <c:f>'Q-4 I Subjective'!$C$11:$C$15</c:f>
              <c:numCache>
                <c:formatCode>General</c:formatCode>
                <c:ptCount val="4"/>
                <c:pt idx="0">
                  <c:v>7.6253981300729476</c:v>
                </c:pt>
                <c:pt idx="1">
                  <c:v>0.31380810468262937</c:v>
                </c:pt>
                <c:pt idx="2">
                  <c:v>5.2387327542156363</c:v>
                </c:pt>
                <c:pt idx="3">
                  <c:v>6.6156094559253376</c:v>
                </c:pt>
              </c:numCache>
            </c:numRef>
          </c:val>
          <c:extLst>
            <c:ext xmlns:c16="http://schemas.microsoft.com/office/drawing/2014/chart" uri="{C3380CC4-5D6E-409C-BE32-E72D297353CC}">
              <c16:uniqueId val="{00000000-566E-47DD-B55C-53DF82D221B5}"/>
            </c:ext>
          </c:extLst>
        </c:ser>
        <c:ser>
          <c:idx val="1"/>
          <c:order val="1"/>
          <c:tx>
            <c:strRef>
              <c:f>'Q-4 I Subjective'!$D$10</c:f>
              <c:strCache>
                <c:ptCount val="1"/>
                <c:pt idx="0">
                  <c:v>Average of Satisfaction Rate</c:v>
                </c:pt>
              </c:strCache>
            </c:strRef>
          </c:tx>
          <c:spPr>
            <a:noFill/>
            <a:ln w="9525" cap="flat" cmpd="sng" algn="ctr">
              <a:solidFill>
                <a:schemeClr val="accent2"/>
              </a:solidFill>
              <a:miter lim="800000"/>
            </a:ln>
            <a:effectLst>
              <a:glow rad="63500">
                <a:schemeClr val="accent2">
                  <a:satMod val="175000"/>
                  <a:alpha val="25000"/>
                </a:schemeClr>
              </a:glo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'Q-4 I Subjective'!$B$11:$B$15</c:f>
              <c:strCache>
                <c:ptCount val="4"/>
                <c:pt idx="0">
                  <c:v>Hardware</c:v>
                </c:pt>
                <c:pt idx="1">
                  <c:v>Login Access</c:v>
                </c:pt>
                <c:pt idx="2">
                  <c:v>Software</c:v>
                </c:pt>
                <c:pt idx="3">
                  <c:v>System</c:v>
                </c:pt>
              </c:strCache>
            </c:strRef>
          </c:cat>
          <c:val>
            <c:numRef>
              <c:f>'Q-4 I Subjective'!$D$11:$D$15</c:f>
              <c:numCache>
                <c:formatCode>General</c:formatCode>
                <c:ptCount val="4"/>
                <c:pt idx="0">
                  <c:v>4.1009966094729275</c:v>
                </c:pt>
                <c:pt idx="1">
                  <c:v>4.0945089576268288</c:v>
                </c:pt>
                <c:pt idx="2">
                  <c:v>4.106336228921819</c:v>
                </c:pt>
                <c:pt idx="3">
                  <c:v>4.1023024460284088</c:v>
                </c:pt>
              </c:numCache>
            </c:numRef>
          </c:val>
          <c:extLst>
            <c:ext xmlns:c16="http://schemas.microsoft.com/office/drawing/2014/chart" uri="{C3380CC4-5D6E-409C-BE32-E72D297353CC}">
              <c16:uniqueId val="{00000001-566E-47DD-B55C-53DF82D221B5}"/>
            </c:ext>
          </c:extLst>
        </c:ser>
        <c:dLbls>
          <c:showLegendKey val="0"/>
          <c:showVal val="0"/>
          <c:showCatName val="0"/>
          <c:showSerName val="0"/>
          <c:showPercent val="0"/>
          <c:showBubbleSize val="0"/>
        </c:dLbls>
        <c:gapWidth val="315"/>
        <c:overlap val="-40"/>
        <c:axId val="1108406928"/>
        <c:axId val="490959360"/>
      </c:barChart>
      <c:catAx>
        <c:axId val="1108406928"/>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490959360"/>
        <c:crosses val="autoZero"/>
        <c:auto val="1"/>
        <c:lblAlgn val="ctr"/>
        <c:lblOffset val="100"/>
        <c:noMultiLvlLbl val="0"/>
      </c:catAx>
      <c:valAx>
        <c:axId val="490959360"/>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1084069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(1).xlsx]Q-5 I Subjective !PivotTable10</c:name>
    <c:fmtId val="67"/>
  </c:pivotSource>
  <c:chart>
    <c:autoTitleDeleted val="1"/>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'Q-5 I Subjective '!$C$7</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'Q-5 I Subjective '!$B$8:$B$28</c:f>
              <c:multiLvlStrCache>
                <c:ptCount val="16"/>
                <c:lvl>
                  <c:pt idx="0">
                    <c:v>Hardware</c:v>
                  </c:pt>
                  <c:pt idx="1">
                    <c:v>Login Access</c:v>
                  </c:pt>
                  <c:pt idx="2">
                    <c:v>Software</c:v>
                  </c:pt>
                  <c:pt idx="3">
                    <c:v>System</c:v>
                  </c:pt>
                  <c:pt idx="4">
                    <c:v>Hardware</c:v>
                  </c:pt>
                  <c:pt idx="5">
                    <c:v>Login Access</c:v>
                  </c:pt>
                  <c:pt idx="6">
                    <c:v>Software</c:v>
                  </c:pt>
                  <c:pt idx="7">
                    <c:v>System</c:v>
                  </c:pt>
                  <c:pt idx="8">
                    <c:v>Hardware</c:v>
                  </c:pt>
                  <c:pt idx="9">
                    <c:v>Login Access</c:v>
                  </c:pt>
                  <c:pt idx="10">
                    <c:v>Software</c:v>
                  </c:pt>
                  <c:pt idx="11">
                    <c:v>System</c:v>
                  </c:pt>
                  <c:pt idx="12">
                    <c:v>Hardware</c:v>
                  </c:pt>
                  <c:pt idx="13">
                    <c:v>Login Access</c:v>
                  </c:pt>
                  <c:pt idx="14">
                    <c:v>Software</c:v>
                  </c:pt>
                  <c:pt idx="15">
                    <c:v>System</c:v>
                  </c:pt>
                </c:lvl>
                <c:lvl>
                  <c:pt idx="0">
                    <c:v>Qtr1</c:v>
                  </c:pt>
                  <c:pt idx="4">
                    <c:v>Qtr2</c:v>
                  </c:pt>
                  <c:pt idx="8">
                    <c:v>Qtr3</c:v>
                  </c:pt>
                  <c:pt idx="12">
                    <c:v>Qtr4</c:v>
                  </c:pt>
                </c:lvl>
              </c:multiLvlStrCache>
            </c:multiLvlStrRef>
          </c:cat>
          <c:val>
            <c:numRef>
              <c:f>'Q-5 I Subjective '!$C$8:$C$28</c:f>
              <c:numCache>
                <c:formatCode>General</c:formatCode>
                <c:ptCount val="16"/>
                <c:pt idx="0">
                  <c:v>7.7437185929648242</c:v>
                </c:pt>
                <c:pt idx="1">
                  <c:v>0.30982295830953743</c:v>
                </c:pt>
                <c:pt idx="2">
                  <c:v>5.2396186440677965</c:v>
                </c:pt>
                <c:pt idx="3">
                  <c:v>6.6398099146776106</c:v>
                </c:pt>
                <c:pt idx="4">
                  <c:v>7.6847290640394093</c:v>
                </c:pt>
                <c:pt idx="5">
                  <c:v>0.32385814819925485</c:v>
                </c:pt>
                <c:pt idx="6">
                  <c:v>5.2590348861499896</c:v>
                </c:pt>
                <c:pt idx="7">
                  <c:v>6.642100935347929</c:v>
                </c:pt>
                <c:pt idx="8">
                  <c:v>7.5285714285714285</c:v>
                </c:pt>
                <c:pt idx="9">
                  <c:v>0.31265239772419401</c:v>
                </c:pt>
                <c:pt idx="10">
                  <c:v>5.1592673700975515</c:v>
                </c:pt>
                <c:pt idx="11">
                  <c:v>6.5821828076186639</c:v>
                </c:pt>
                <c:pt idx="12">
                  <c:v>7.5481903212688088</c:v>
                </c:pt>
                <c:pt idx="13">
                  <c:v>0.30899470899470899</c:v>
                </c:pt>
                <c:pt idx="14">
                  <c:v>5.2978174603174599</c:v>
                </c:pt>
                <c:pt idx="15">
                  <c:v>6.600733326726786</c:v>
                </c:pt>
              </c:numCache>
            </c:numRef>
          </c:val>
          <c:extLst>
            <c:ext xmlns:c16="http://schemas.microsoft.com/office/drawing/2014/chart" uri="{C3380CC4-5D6E-409C-BE32-E72D297353CC}">
              <c16:uniqueId val="{00000000-B2C8-41E8-81AD-2AC894927BF8}"/>
            </c:ext>
          </c:extLst>
        </c:ser>
        <c:dLbls>
          <c:dLblPos val="outEnd"/>
          <c:showLegendKey val="0"/>
          <c:showVal val="1"/>
          <c:showCatName val="0"/>
          <c:showSerName val="0"/>
          <c:showPercent val="0"/>
          <c:showBubbleSize val="0"/>
        </c:dLbls>
        <c:gapWidth val="100"/>
        <c:overlap val="-24"/>
        <c:axId val="815976736"/>
        <c:axId val="490947072"/>
      </c:barChart>
      <c:catAx>
        <c:axId val="81597673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0947072"/>
        <c:crosses val="autoZero"/>
        <c:auto val="1"/>
        <c:lblAlgn val="ctr"/>
        <c:lblOffset val="100"/>
        <c:noMultiLvlLbl val="0"/>
      </c:catAx>
      <c:valAx>
        <c:axId val="4909470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59767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(1).xlsx]Q-6 I Subjective!PivotTable11</c:name>
    <c:fmtId val="21"/>
  </c:pivotSource>
  <c:chart>
    <c:autoTitleDeleted val="0"/>
    <c:pivotFmts>
      <c:pivotFmt>
        <c:idx val="0"/>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'Q-6 I Subjective'!$C$18</c:f>
              <c:strCache>
                <c:ptCount val="1"/>
                <c:pt idx="0">
                  <c:v>Average of Resolution Time (Days)</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'Q-6 I Subjective'!$B$19:$B$23</c:f>
              <c:strCache>
                <c:ptCount val="4"/>
                <c:pt idx="0">
                  <c:v>Hardware</c:v>
                </c:pt>
                <c:pt idx="1">
                  <c:v>Login Access</c:v>
                </c:pt>
                <c:pt idx="2">
                  <c:v>Software</c:v>
                </c:pt>
                <c:pt idx="3">
                  <c:v>System</c:v>
                </c:pt>
              </c:strCache>
            </c:strRef>
          </c:cat>
          <c:val>
            <c:numRef>
              <c:f>'Q-6 I Subjective'!$C$19:$C$23</c:f>
              <c:numCache>
                <c:formatCode>General</c:formatCode>
                <c:ptCount val="4"/>
                <c:pt idx="0">
                  <c:v>7.6253981300729476</c:v>
                </c:pt>
                <c:pt idx="1">
                  <c:v>0.31380810468262937</c:v>
                </c:pt>
                <c:pt idx="2">
                  <c:v>5.2387327542156363</c:v>
                </c:pt>
                <c:pt idx="3">
                  <c:v>6.6156094559253376</c:v>
                </c:pt>
              </c:numCache>
            </c:numRef>
          </c:val>
          <c:extLst>
            <c:ext xmlns:c16="http://schemas.microsoft.com/office/drawing/2014/chart" uri="{C3380CC4-5D6E-409C-BE32-E72D297353CC}">
              <c16:uniqueId val="{00000000-B14D-4CB6-9090-D6F171691B4B}"/>
            </c:ext>
          </c:extLst>
        </c:ser>
        <c:ser>
          <c:idx val="1"/>
          <c:order val="1"/>
          <c:tx>
            <c:strRef>
              <c:f>'Q-6 I Subjective'!$D$18</c:f>
              <c:strCache>
                <c:ptCount val="1"/>
                <c:pt idx="0">
                  <c:v>Average of Satisfaction Rate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'Q-6 I Subjective'!$B$19:$B$23</c:f>
              <c:strCache>
                <c:ptCount val="4"/>
                <c:pt idx="0">
                  <c:v>Hardware</c:v>
                </c:pt>
                <c:pt idx="1">
                  <c:v>Login Access</c:v>
                </c:pt>
                <c:pt idx="2">
                  <c:v>Software</c:v>
                </c:pt>
                <c:pt idx="3">
                  <c:v>System</c:v>
                </c:pt>
              </c:strCache>
            </c:strRef>
          </c:cat>
          <c:val>
            <c:numRef>
              <c:f>'Q-6 I Subjective'!$D$19:$D$23</c:f>
              <c:numCache>
                <c:formatCode>General</c:formatCode>
                <c:ptCount val="4"/>
                <c:pt idx="0">
                  <c:v>4.1009966094729275</c:v>
                </c:pt>
                <c:pt idx="1">
                  <c:v>4.0945089576268288</c:v>
                </c:pt>
                <c:pt idx="2">
                  <c:v>4.106336228921819</c:v>
                </c:pt>
                <c:pt idx="3">
                  <c:v>4.1023024460284088</c:v>
                </c:pt>
              </c:numCache>
            </c:numRef>
          </c:val>
          <c:extLst>
            <c:ext xmlns:c16="http://schemas.microsoft.com/office/drawing/2014/chart" uri="{C3380CC4-5D6E-409C-BE32-E72D297353CC}">
              <c16:uniqueId val="{00000001-B14D-4CB6-9090-D6F171691B4B}"/>
            </c:ext>
          </c:extLst>
        </c:ser>
        <c:dLbls>
          <c:dLblPos val="outEnd"/>
          <c:showLegendKey val="0"/>
          <c:showVal val="1"/>
          <c:showCatName val="0"/>
          <c:showSerName val="0"/>
          <c:showPercent val="0"/>
          <c:showBubbleSize val="0"/>
        </c:dLbls>
        <c:gapWidth val="444"/>
        <c:overlap val="-90"/>
        <c:axId val="1168313648"/>
        <c:axId val="490761216"/>
      </c:barChart>
      <c:catAx>
        <c:axId val="11683136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490761216"/>
        <c:crosses val="autoZero"/>
        <c:auto val="1"/>
        <c:lblAlgn val="ctr"/>
        <c:lblOffset val="100"/>
        <c:noMultiLvlLbl val="0"/>
      </c:catAx>
      <c:valAx>
        <c:axId val="490761216"/>
        <c:scaling>
          <c:orientation val="minMax"/>
        </c:scaling>
        <c:delete val="1"/>
        <c:axPos val="l"/>
        <c:numFmt formatCode="General" sourceLinked="1"/>
        <c:majorTickMark val="none"/>
        <c:minorTickMark val="none"/>
        <c:tickLblPos val="nextTo"/>
        <c:crossAx val="11683136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(1).xlsx]Q-8 I Subjective!PivotTable6</c:name>
    <c:fmtId val="49"/>
  </c:pivotSource>
  <c:chart>
    <c:autoTitleDeleted val="1"/>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triangle"/>
          <c:size val="6"/>
          <c:spPr>
            <a:solidFill>
              <a:schemeClr val="accent3"/>
            </a:solidFill>
            <a:ln w="9525">
              <a:solidFill>
                <a:schemeClr val="accent3"/>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x"/>
          <c:size val="6"/>
          <c:spPr>
            <a:noFill/>
            <a:ln w="9525">
              <a:solidFill>
                <a:schemeClr val="accent4"/>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'Q-8 I Subjective'!$C$7:$C$8</c:f>
              <c:strCache>
                <c:ptCount val="1"/>
                <c:pt idx="0">
                  <c:v>Hardware</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'Q-8 I Subjective'!$B$9:$B$14</c:f>
              <c:strCache>
                <c:ptCount val="5"/>
                <c:pt idx="0">
                  <c:v>29-34</c:v>
                </c:pt>
                <c:pt idx="1">
                  <c:v>35-40</c:v>
                </c:pt>
                <c:pt idx="2">
                  <c:v>41-46</c:v>
                </c:pt>
                <c:pt idx="3">
                  <c:v>47-52</c:v>
                </c:pt>
                <c:pt idx="4">
                  <c:v>53-58</c:v>
                </c:pt>
              </c:strCache>
            </c:strRef>
          </c:cat>
          <c:val>
            <c:numRef>
              <c:f>'Q-8 I Subjective'!$C$9:$C$14</c:f>
              <c:numCache>
                <c:formatCode>0.00</c:formatCode>
                <c:ptCount val="5"/>
                <c:pt idx="0">
                  <c:v>7.7519913106444607</c:v>
                </c:pt>
                <c:pt idx="1">
                  <c:v>7.4141471762692523</c:v>
                </c:pt>
                <c:pt idx="2">
                  <c:v>7.5459840588595952</c:v>
                </c:pt>
                <c:pt idx="3">
                  <c:v>7.6681383370125094</c:v>
                </c:pt>
                <c:pt idx="4">
                  <c:v>7.9966499162479066</c:v>
                </c:pt>
              </c:numCache>
            </c:numRef>
          </c:val>
          <c:extLst>
            <c:ext xmlns:c16="http://schemas.microsoft.com/office/drawing/2014/chart" uri="{C3380CC4-5D6E-409C-BE32-E72D297353CC}">
              <c16:uniqueId val="{00000000-38A3-4A7E-8174-059D4901DA4A}"/>
            </c:ext>
          </c:extLst>
        </c:ser>
        <c:ser>
          <c:idx val="1"/>
          <c:order val="1"/>
          <c:tx>
            <c:strRef>
              <c:f>'Q-8 I Subjective'!$D$7:$D$8</c:f>
              <c:strCache>
                <c:ptCount val="1"/>
                <c:pt idx="0">
                  <c:v>Login Access</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'Q-8 I Subjective'!$B$9:$B$14</c:f>
              <c:strCache>
                <c:ptCount val="5"/>
                <c:pt idx="0">
                  <c:v>29-34</c:v>
                </c:pt>
                <c:pt idx="1">
                  <c:v>35-40</c:v>
                </c:pt>
                <c:pt idx="2">
                  <c:v>41-46</c:v>
                </c:pt>
                <c:pt idx="3">
                  <c:v>47-52</c:v>
                </c:pt>
                <c:pt idx="4">
                  <c:v>53-58</c:v>
                </c:pt>
              </c:strCache>
            </c:strRef>
          </c:cat>
          <c:val>
            <c:numRef>
              <c:f>'Q-8 I Subjective'!$D$9:$D$14</c:f>
              <c:numCache>
                <c:formatCode>0.00</c:formatCode>
                <c:ptCount val="5"/>
                <c:pt idx="0">
                  <c:v>0.29497193068098609</c:v>
                </c:pt>
                <c:pt idx="1">
                  <c:v>0.4175308158873019</c:v>
                </c:pt>
                <c:pt idx="2">
                  <c:v>0.34447016202073061</c:v>
                </c:pt>
                <c:pt idx="3">
                  <c:v>0.23677342823250297</c:v>
                </c:pt>
                <c:pt idx="4">
                  <c:v>0.10887096774193548</c:v>
                </c:pt>
              </c:numCache>
            </c:numRef>
          </c:val>
          <c:extLst>
            <c:ext xmlns:c16="http://schemas.microsoft.com/office/drawing/2014/chart" uri="{C3380CC4-5D6E-409C-BE32-E72D297353CC}">
              <c16:uniqueId val="{00000001-38A3-4A7E-8174-059D4901DA4A}"/>
            </c:ext>
          </c:extLst>
        </c:ser>
        <c:ser>
          <c:idx val="2"/>
          <c:order val="2"/>
          <c:tx>
            <c:strRef>
              <c:f>'Q-8 I Subjective'!$E$7:$E$8</c:f>
              <c:strCache>
                <c:ptCount val="1"/>
                <c:pt idx="0">
                  <c:v>Software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'Q-8 I Subjective'!$B$9:$B$14</c:f>
              <c:strCache>
                <c:ptCount val="5"/>
                <c:pt idx="0">
                  <c:v>29-34</c:v>
                </c:pt>
                <c:pt idx="1">
                  <c:v>35-40</c:v>
                </c:pt>
                <c:pt idx="2">
                  <c:v>41-46</c:v>
                </c:pt>
                <c:pt idx="3">
                  <c:v>47-52</c:v>
                </c:pt>
                <c:pt idx="4">
                  <c:v>53-58</c:v>
                </c:pt>
              </c:strCache>
            </c:strRef>
          </c:cat>
          <c:val>
            <c:numRef>
              <c:f>'Q-8 I Subjective'!$E$9:$E$14</c:f>
              <c:numCache>
                <c:formatCode>0.00</c:formatCode>
                <c:ptCount val="5"/>
                <c:pt idx="0">
                  <c:v>5.0716363636363635</c:v>
                </c:pt>
                <c:pt idx="1">
                  <c:v>5.9211794726396372</c:v>
                </c:pt>
                <c:pt idx="2">
                  <c:v>5.4681423870774752</c:v>
                </c:pt>
                <c:pt idx="3">
                  <c:v>4.7719429857464366</c:v>
                </c:pt>
                <c:pt idx="4">
                  <c:v>3.7464315701091522</c:v>
                </c:pt>
              </c:numCache>
            </c:numRef>
          </c:val>
          <c:extLst>
            <c:ext xmlns:c16="http://schemas.microsoft.com/office/drawing/2014/chart" uri="{C3380CC4-5D6E-409C-BE32-E72D297353CC}">
              <c16:uniqueId val="{00000002-38A3-4A7E-8174-059D4901DA4A}"/>
            </c:ext>
          </c:extLst>
        </c:ser>
        <c:ser>
          <c:idx val="3"/>
          <c:order val="3"/>
          <c:tx>
            <c:strRef>
              <c:f>'Q-8 I Subjective'!$F$7:$F$8</c:f>
              <c:strCache>
                <c:ptCount val="1"/>
                <c:pt idx="0">
                  <c:v>System</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'Q-8 I Subjective'!$B$9:$B$14</c:f>
              <c:strCache>
                <c:ptCount val="5"/>
                <c:pt idx="0">
                  <c:v>29-34</c:v>
                </c:pt>
                <c:pt idx="1">
                  <c:v>35-40</c:v>
                </c:pt>
                <c:pt idx="2">
                  <c:v>41-46</c:v>
                </c:pt>
                <c:pt idx="3">
                  <c:v>47-52</c:v>
                </c:pt>
                <c:pt idx="4">
                  <c:v>53-58</c:v>
                </c:pt>
              </c:strCache>
            </c:strRef>
          </c:cat>
          <c:val>
            <c:numRef>
              <c:f>'Q-8 I Subjective'!$F$9:$F$14</c:f>
              <c:numCache>
                <c:formatCode>0.00</c:formatCode>
                <c:ptCount val="5"/>
                <c:pt idx="0">
                  <c:v>6.4701712391824708</c:v>
                </c:pt>
                <c:pt idx="1">
                  <c:v>6.9238535969709716</c:v>
                </c:pt>
                <c:pt idx="2">
                  <c:v>6.8319963674890269</c:v>
                </c:pt>
                <c:pt idx="3">
                  <c:v>6.3801622418879056</c:v>
                </c:pt>
                <c:pt idx="4">
                  <c:v>5.6874736398144243</c:v>
                </c:pt>
              </c:numCache>
            </c:numRef>
          </c:val>
          <c:extLst>
            <c:ext xmlns:c16="http://schemas.microsoft.com/office/drawing/2014/chart" uri="{C3380CC4-5D6E-409C-BE32-E72D297353CC}">
              <c16:uniqueId val="{00000003-38A3-4A7E-8174-059D4901DA4A}"/>
            </c:ext>
          </c:extLst>
        </c:ser>
        <c:dLbls>
          <c:dLblPos val="outEnd"/>
          <c:showLegendKey val="0"/>
          <c:showVal val="1"/>
          <c:showCatName val="0"/>
          <c:showSerName val="0"/>
          <c:showPercent val="0"/>
          <c:showBubbleSize val="0"/>
        </c:dLbls>
        <c:gapWidth val="444"/>
        <c:overlap val="-90"/>
        <c:axId val="2005032927"/>
        <c:axId val="345787951"/>
      </c:barChart>
      <c:catAx>
        <c:axId val="200503292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345787951"/>
        <c:crosses val="autoZero"/>
        <c:auto val="1"/>
        <c:lblAlgn val="ctr"/>
        <c:lblOffset val="100"/>
        <c:noMultiLvlLbl val="0"/>
      </c:catAx>
      <c:valAx>
        <c:axId val="345787951"/>
        <c:scaling>
          <c:orientation val="minMax"/>
        </c:scaling>
        <c:delete val="1"/>
        <c:axPos val="l"/>
        <c:numFmt formatCode="0.00" sourceLinked="1"/>
        <c:majorTickMark val="none"/>
        <c:minorTickMark val="none"/>
        <c:tickLblPos val="nextTo"/>
        <c:crossAx val="20050329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[IT_TICKET_ANALYSIS_EXCEL (1).xlsx]Q-9 I Subjective!PivotTable4</c:name>
    <c:fmtId val="28"/>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'Q-9 I Subjective'!$C$7</c:f>
              <c:strCache>
                <c:ptCount val="1"/>
                <c:pt idx="0">
                  <c:v>Count of ID Ticket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'Q-9 I Subjective'!$B$8:$B$13</c:f>
              <c:strCache>
                <c:ptCount val="5"/>
                <c:pt idx="0">
                  <c:v>2016</c:v>
                </c:pt>
                <c:pt idx="1">
                  <c:v>2017</c:v>
                </c:pt>
                <c:pt idx="2">
                  <c:v>2018</c:v>
                </c:pt>
                <c:pt idx="3">
                  <c:v>2019</c:v>
                </c:pt>
                <c:pt idx="4">
                  <c:v>2020</c:v>
                </c:pt>
              </c:strCache>
            </c:strRef>
          </c:cat>
          <c:val>
            <c:numRef>
              <c:f>'Q-9 I Subjective'!$C$8:$C$13</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5C85-4A54-9A60-99CE4CDB5F42}"/>
            </c:ext>
          </c:extLst>
        </c:ser>
        <c:dLbls>
          <c:showLegendKey val="0"/>
          <c:showVal val="1"/>
          <c:showCatName val="0"/>
          <c:showSerName val="0"/>
          <c:showPercent val="0"/>
          <c:showBubbleSize val="0"/>
        </c:dLbls>
        <c:gapWidth val="219"/>
        <c:overlap val="-27"/>
        <c:axId val="2049857727"/>
        <c:axId val="349548143"/>
      </c:barChart>
      <c:lineChart>
        <c:grouping val="standard"/>
        <c:varyColors val="0"/>
        <c:ser>
          <c:idx val="1"/>
          <c:order val="1"/>
          <c:tx>
            <c:strRef>
              <c:f>'Q-9 I Subjective'!$D$7</c:f>
              <c:strCache>
                <c:ptCount val="1"/>
                <c:pt idx="0">
                  <c:v>Average of Satisfaction Rate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'Q-9 I Subjective'!$B$8:$B$13</c:f>
              <c:strCache>
                <c:ptCount val="5"/>
                <c:pt idx="0">
                  <c:v>2016</c:v>
                </c:pt>
                <c:pt idx="1">
                  <c:v>2017</c:v>
                </c:pt>
                <c:pt idx="2">
                  <c:v>2018</c:v>
                </c:pt>
                <c:pt idx="3">
                  <c:v>2019</c:v>
                </c:pt>
                <c:pt idx="4">
                  <c:v>2020</c:v>
                </c:pt>
              </c:strCache>
            </c:strRef>
          </c:cat>
          <c:val>
            <c:numRef>
              <c:f>'Q-9 I Subjective'!$D$8:$D$13</c:f>
              <c:numCache>
                <c:formatCode>0.00</c:formatCode>
                <c:ptCount val="5"/>
                <c:pt idx="0">
                  <c:v>3.9796950425254769</c:v>
                </c:pt>
                <c:pt idx="1">
                  <c:v>4.068119342943346</c:v>
                </c:pt>
                <c:pt idx="2">
                  <c:v>4.0918539622243326</c:v>
                </c:pt>
                <c:pt idx="3">
                  <c:v>4.1223825034899955</c:v>
                </c:pt>
                <c:pt idx="4">
                  <c:v>4.1612692519251926</c:v>
                </c:pt>
              </c:numCache>
            </c:numRef>
          </c:val>
          <c:smooth val="0"/>
          <c:extLst>
            <c:ext xmlns:c16="http://schemas.microsoft.com/office/drawing/2014/chart" uri="{C3380CC4-5D6E-409C-BE32-E72D297353CC}">
              <c16:uniqueId val="{00000001-5C85-4A54-9A60-99CE4CDB5F42}"/>
            </c:ext>
          </c:extLst>
        </c:ser>
        <c:dLbls>
          <c:showLegendKey val="0"/>
          <c:showVal val="1"/>
          <c:showCatName val="0"/>
          <c:showSerName val="0"/>
          <c:showPercent val="0"/>
          <c:showBubbleSize val="0"/>
        </c:dLbls>
        <c:marker val="1"/>
        <c:smooth val="0"/>
        <c:axId val="2005082575"/>
        <c:axId val="345809551"/>
      </c:lineChart>
      <c:catAx>
        <c:axId val="200508257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45809551"/>
        <c:crosses val="autoZero"/>
        <c:auto val="1"/>
        <c:lblAlgn val="ctr"/>
        <c:lblOffset val="100"/>
        <c:noMultiLvlLbl val="0"/>
      </c:catAx>
      <c:valAx>
        <c:axId val="345809551"/>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05082575"/>
        <c:crosses val="autoZero"/>
        <c:crossBetween val="between"/>
      </c:valAx>
      <c:valAx>
        <c:axId val="349548143"/>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049857727"/>
        <c:crosses val="max"/>
        <c:crossBetween val="between"/>
      </c:valAx>
      <c:catAx>
        <c:axId val="2049857727"/>
        <c:scaling>
          <c:orientation val="minMax"/>
        </c:scaling>
        <c:delete val="1"/>
        <c:axPos val="b"/>
        <c:numFmt formatCode="General" sourceLinked="1"/>
        <c:majorTickMark val="none"/>
        <c:minorTickMark val="none"/>
        <c:tickLblPos val="nextTo"/>
        <c:crossAx val="34954814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43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0C556-2B17-FFB1-CCEC-B2526E2E7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CA07C-8288-C9E8-814C-69B75C889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43FE7-1ACC-B348-A269-2C6F1C0DF3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3782F6-F46A-E28D-D60A-EDE11BC81B6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27866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B1DEF-15AB-6947-0B1B-54F5C62B3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ACD6B-F98D-1614-2D51-2CE18160F6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45D94-D8EC-AC76-0FB1-FC09F174D6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61B4B2-4BD7-4F6F-7815-5794910C425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02550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D956-7C8A-C273-EB9E-967912364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D0661-343F-996A-457F-DDE3A14DA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7413C0-035E-F0DC-203F-7FF8810372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564D6D-3B5E-5500-3E92-38610570127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17495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DB88-CC85-DADA-ED30-A8CB43AB92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FB4C6E-8846-0FFB-815D-04B95AA03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53239-CA68-0892-2C0A-890A1F01BB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A7B9A1-9E1A-ED4F-5562-EFF8709ED41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11127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B5DE-0164-08DF-27B9-2BB167DF2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08031-1A0C-5771-BF3C-3C2BCE789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7BEA8-1866-F3A4-B287-2D7689EBBC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A3CDCF-99E4-E4D3-E235-67DFE6983A2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07147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E0D8B-A173-067D-E622-643A539D8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51355-871B-23C5-4918-530224CB9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B3B02-3B08-1667-6154-6675A74958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BF1656-EF1A-B69D-9A03-F684A06364C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78653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B3BFF-755C-BF18-4F72-34AC38338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D5967-D54B-A221-60F4-9951C9A03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7B21-7EF3-08E1-F44E-7CF6FDE688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1E5F2F-3C3A-83C6-79B5-79888DFCF32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90166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F7D2-48E4-90A7-55F4-6390281DD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0386D-47A6-4BE1-5FFB-6E9D58814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D9B02-D766-9B67-BB7B-7726619CDC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6ED7E7-B2D1-AAD3-F31B-AFFE746F7D5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33370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F8977-CEBF-1B65-EFCE-6602BC77D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55CEB-38DB-4AFE-5B52-0B8E9B17E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47137-7B87-F52A-6CF4-49D8C2C3B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EBA011-B317-EA57-630F-E9E143EFD76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2218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B67A-84F5-C934-D550-EB83539CB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1A557-7B0F-F090-1FCF-469234271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87A93-0686-B12C-AE63-B48CC6FB44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993FFC-4C60-A589-A3F1-AF06C708CAB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15143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C5DA-CA5A-E893-7F37-2877F80AE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37361-04E8-456E-CB9A-744BE3FB4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CF0D5-8C28-6624-4EEF-C62EC5D84B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EA91A6-AD55-B391-08FF-3773ECCB87D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12452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C2E1E-65C6-984D-1F83-1FC86F1ED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A82AD-83B2-1FEA-22C2-FD34892EB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88FB2-0316-6AC3-19D5-AEE631D8BD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5FA9FD-621A-A66B-736D-1D6DE806EB3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13852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93FA-2C7C-740B-3FC9-ED024665A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888F8-0975-58F7-8F51-4040BDA9F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BD63C-BD56-8B9B-6F1E-8A1F2C48F2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9BC07-351B-E607-CE62-AEE04ACFAC2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2702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C883E-E408-49C2-22D6-382BFFB87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34888-A5EA-C7C8-105E-541D7781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45D5C-C860-D70B-DD9D-5852AE974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410D01-F5CE-1685-D6FA-21335624CDCC}"/>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66653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03D5-F908-849B-920C-EBDCEF796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224C6-EE19-D9B7-9976-E3006965F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1722D-8E0F-AA44-1FC1-D8412E484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A7B40B-71D2-84A7-EA66-368F15EF751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77968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02A6-7923-C0F1-E88F-453B1F575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96340-2837-DF20-E09A-5F5EB1E48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1CEDE-B081-0B52-5B01-E832E7701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521E53-BF6A-ADC3-2BA9-2E26796C1FF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30849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958139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330147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802906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743242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963846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8821674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474406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603806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418918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603628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200694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220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2B4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8/18/2026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490232252"/>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348915" y="1885950"/>
            <a:ext cx="7520940" cy="685800"/>
          </a:xfrm>
          <a:prstGeom prst="rect">
            <a:avLst/>
          </a:prstGeom>
          <a:noFill/>
          <a:ln/>
        </p:spPr>
        <p:txBody>
          <a:bodyPr wrap="square" rtlCol="0" anchor="ctr"/>
          <a:lstStyle/>
          <a:p>
            <a:pPr algn="ctr"/>
            <a:r>
              <a:rPr lang="en-US" sz="4000" b="1" dirty="0">
                <a:latin typeface="Calibri" pitchFamily="34" charset="0"/>
                <a:ea typeface="Calibri" pitchFamily="34" charset="-122"/>
                <a:cs typeface="Calibri" pitchFamily="34" charset="-120"/>
              </a:rPr>
              <a:t>IT Support Ticket Analysis &amp;</a:t>
            </a:r>
            <a:endParaRPr lang="en-US" sz="4000" dirty="0"/>
          </a:p>
          <a:p>
            <a:pPr marL="0" indent="0" algn="ctr">
              <a:buNone/>
            </a:pPr>
            <a:r>
              <a:rPr lang="en-US" sz="4000" dirty="0"/>
              <a:t>Operation Dashboard</a:t>
            </a:r>
          </a:p>
        </p:txBody>
      </p:sp>
      <p:sp>
        <p:nvSpPr>
          <p:cNvPr id="8" name="Text 6"/>
          <p:cNvSpPr/>
          <p:nvPr/>
        </p:nvSpPr>
        <p:spPr>
          <a:xfrm>
            <a:off x="838620" y="1214197"/>
            <a:ext cx="6697980" cy="594360"/>
          </a:xfrm>
          <a:prstGeom prst="rect">
            <a:avLst/>
          </a:prstGeom>
          <a:noFill/>
          <a:ln/>
        </p:spPr>
        <p:txBody>
          <a:bodyPr wrap="square" rtlCol="0" anchor="ctr"/>
          <a:lstStyle/>
          <a:p>
            <a:r>
              <a:rPr lang="en-IN" sz="1200" b="1" dirty="0">
                <a:solidFill>
                  <a:srgbClr val="336699"/>
                </a:solidFill>
              </a:rPr>
              <a:t> Ticket Resolution, Satisfaction &amp; Agent Performance  |  Data: 2016 - 2020  |  97,498 Tickets Analysed</a:t>
            </a:r>
            <a:endParaRPr lang="en-US" sz="1200" dirty="0"/>
          </a:p>
        </p:txBody>
      </p:sp>
      <p:sp>
        <p:nvSpPr>
          <p:cNvPr id="9" name="Text 7"/>
          <p:cNvSpPr/>
          <p:nvPr/>
        </p:nvSpPr>
        <p:spPr>
          <a:xfrm>
            <a:off x="179692" y="4411980"/>
            <a:ext cx="4206240" cy="228600"/>
          </a:xfrm>
          <a:prstGeom prst="rect">
            <a:avLst/>
          </a:prstGeom>
          <a:noFill/>
          <a:ln/>
        </p:spPr>
        <p:txBody>
          <a:bodyPr wrap="square" rtlCol="0" anchor="ctr"/>
          <a:lstStyle/>
          <a:p>
            <a:pPr marL="0" indent="0">
              <a:buNone/>
            </a:pPr>
            <a:r>
              <a:rPr lang="en-US" sz="2000" b="1" dirty="0">
                <a:latin typeface="Calibri" pitchFamily="34" charset="0"/>
                <a:ea typeface="Calibri" pitchFamily="34" charset="-122"/>
                <a:cs typeface="Calibri" pitchFamily="34" charset="-120"/>
              </a:rPr>
              <a:t>Presented By: </a:t>
            </a:r>
            <a:r>
              <a:rPr lang="en-US" sz="2000" b="1" dirty="0">
                <a:solidFill>
                  <a:srgbClr val="FFFFFF"/>
                </a:solidFill>
                <a:latin typeface="Calibri" pitchFamily="34" charset="0"/>
                <a:ea typeface="Calibri" pitchFamily="34" charset="-122"/>
                <a:cs typeface="Calibri" pitchFamily="34" charset="-120"/>
              </a:rPr>
              <a:t>Haripriya MC</a:t>
            </a:r>
            <a:endParaRPr lang="en-US" sz="2000" dirty="0"/>
          </a:p>
        </p:txBody>
      </p:sp>
      <p:sp>
        <p:nvSpPr>
          <p:cNvPr id="10" name="Text 8"/>
          <p:cNvSpPr/>
          <p:nvPr/>
        </p:nvSpPr>
        <p:spPr>
          <a:xfrm>
            <a:off x="179692" y="4658868"/>
            <a:ext cx="4206240" cy="228600"/>
          </a:xfrm>
          <a:prstGeom prst="rect">
            <a:avLst/>
          </a:prstGeom>
          <a:noFill/>
          <a:ln/>
        </p:spPr>
        <p:txBody>
          <a:bodyPr wrap="square" rtlCol="0" anchor="ctr"/>
          <a:lstStyle/>
          <a:p>
            <a:pPr marL="0" indent="0">
              <a:buNone/>
            </a:pPr>
            <a:r>
              <a:rPr lang="en-US" sz="1400" dirty="0">
                <a:solidFill>
                  <a:srgbClr val="6B8BAA"/>
                </a:solidFill>
                <a:latin typeface="Calibri" pitchFamily="34" charset="0"/>
                <a:ea typeface="Calibri" pitchFamily="34" charset="-122"/>
                <a:cs typeface="Calibri" pitchFamily="34" charset="-120"/>
              </a:rPr>
              <a:t>09-08-2026</a:t>
            </a:r>
            <a:endParaRPr lang="en-US" sz="1400" dirty="0"/>
          </a:p>
        </p:txBody>
      </p:sp>
      <p:pic>
        <p:nvPicPr>
          <p:cNvPr id="38" name="Graphic 37" descr="Group of people outline">
            <a:extLst>
              <a:ext uri="{FF2B5EF4-FFF2-40B4-BE49-F238E27FC236}">
                <a16:creationId xmlns:a16="http://schemas.microsoft.com/office/drawing/2014/main" id="{404AFC2D-B437-DB50-574E-E5F26D573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29" y="30081"/>
            <a:ext cx="880872" cy="880872"/>
          </a:xfrm>
          <a:prstGeom prst="rect">
            <a:avLst/>
          </a:prstGeom>
        </p:spPr>
      </p:pic>
      <p:sp>
        <p:nvSpPr>
          <p:cNvPr id="5" name="Accent">
            <a:extLst>
              <a:ext uri="{FF2B5EF4-FFF2-40B4-BE49-F238E27FC236}">
                <a16:creationId xmlns:a16="http://schemas.microsoft.com/office/drawing/2014/main" id="{B7C69D6D-13CC-2513-6ADB-671EECB6599F}"/>
              </a:ext>
            </a:extLst>
          </p:cNvPr>
          <p:cNvSpPr/>
          <p:nvPr/>
        </p:nvSpPr>
        <p:spPr>
          <a:xfrm>
            <a:off x="0" y="0"/>
            <a:ext cx="109728" cy="5143500"/>
          </a:xfrm>
          <a:prstGeom prst="rect">
            <a:avLst/>
          </a:prstGeom>
          <a:solidFill>
            <a:srgbClr val="00C6D7"/>
          </a:solidFill>
          <a:ln>
            <a:noFill/>
          </a:ln>
        </p:spPr>
        <p:txBody>
          <a:bodyPr/>
          <a:lstStyle/>
          <a:p>
            <a:endParaRPr lang="en-US"/>
          </a:p>
        </p:txBody>
      </p:sp>
      <p:pic>
        <p:nvPicPr>
          <p:cNvPr id="3" name="Picture 2">
            <a:extLst>
              <a:ext uri="{FF2B5EF4-FFF2-40B4-BE49-F238E27FC236}">
                <a16:creationId xmlns:a16="http://schemas.microsoft.com/office/drawing/2014/main" id="{57D87946-28E2-EFF0-35C2-788E92B147E4}"/>
              </a:ext>
            </a:extLst>
          </p:cNvPr>
          <p:cNvPicPr>
            <a:picLocks noChangeAspect="1"/>
          </p:cNvPicPr>
          <p:nvPr/>
        </p:nvPicPr>
        <p:blipFill>
          <a:blip r:embed="rId4"/>
          <a:srcRect/>
          <a:stretch>
            <a:fillRect/>
          </a:stretch>
        </p:blipFill>
        <p:spPr>
          <a:xfrm>
            <a:off x="5551862" y="2290553"/>
            <a:ext cx="3724795" cy="30007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3" name="Text 1"/>
          <p:cNvSpPr/>
          <p:nvPr/>
        </p:nvSpPr>
        <p:spPr>
          <a:xfrm>
            <a:off x="548640" y="274320"/>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Introduction</a:t>
            </a:r>
            <a:r>
              <a:rPr lang="en-US" sz="2600" b="1" dirty="0">
                <a:solidFill>
                  <a:srgbClr val="FFFFFF"/>
                </a:solidFill>
                <a:latin typeface="Calibri" pitchFamily="34" charset="0"/>
                <a:ea typeface="Calibri" pitchFamily="34" charset="-122"/>
                <a:cs typeface="Calibri" pitchFamily="34" charset="-120"/>
              </a:rPr>
              <a:t> </a:t>
            </a:r>
            <a:endParaRPr lang="en-US" sz="2600" dirty="0"/>
          </a:p>
        </p:txBody>
      </p:sp>
      <p:sp>
        <p:nvSpPr>
          <p:cNvPr id="4" name="Shape 2"/>
          <p:cNvSpPr/>
          <p:nvPr/>
        </p:nvSpPr>
        <p:spPr>
          <a:xfrm>
            <a:off x="701041" y="1442821"/>
            <a:ext cx="5684519" cy="3096058"/>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5" name="Text 3"/>
          <p:cNvSpPr/>
          <p:nvPr/>
        </p:nvSpPr>
        <p:spPr>
          <a:xfrm>
            <a:off x="548639" y="896067"/>
            <a:ext cx="6299930" cy="276288"/>
          </a:xfrm>
          <a:prstGeom prst="rect">
            <a:avLst/>
          </a:prstGeom>
          <a:noFill/>
          <a:ln/>
        </p:spPr>
        <p:txBody>
          <a:bodyPr wrap="square" rtlCol="0" anchor="ctr"/>
          <a:lstStyle/>
          <a:p>
            <a:pPr marL="0" indent="0">
              <a:buNone/>
            </a:pPr>
            <a:endParaRPr lang="en-US" sz="1200" dirty="0"/>
          </a:p>
        </p:txBody>
      </p:sp>
      <p:sp>
        <p:nvSpPr>
          <p:cNvPr id="6" name="Text 4"/>
          <p:cNvSpPr/>
          <p:nvPr/>
        </p:nvSpPr>
        <p:spPr>
          <a:xfrm>
            <a:off x="1343285" y="1751656"/>
            <a:ext cx="4577455" cy="407781"/>
          </a:xfrm>
          <a:prstGeom prst="rect">
            <a:avLst/>
          </a:prstGeom>
          <a:noFill/>
          <a:ln/>
        </p:spPr>
        <p:txBody>
          <a:bodyPr wrap="square" rtlCol="0" anchor="t"/>
          <a:lstStyle/>
          <a:p>
            <a:pPr algn="just"/>
            <a:r>
              <a:rPr lang="en-IN" sz="1200" dirty="0"/>
              <a:t>This project analyses IT support ticket data collected over five years (2016–2020), covering ticket volumes, resolution times, satisfaction ratings, and agent performance across 50 IT agents. The goal is to build a clear, data-driven understanding of how the IT support function is operating — from basic data quality checks to deeper questions around agent efficiency, request categories, and customer satisfaction trends. The analysis is divided into objective questions, which establish foundational facts about the dataset, and subjective questions, which use those facts to answer practical business questions around training, tooling, and investment decisions. Ultimately, this study aims to provide actionable insights that help guide staffing, training, and technology investment decisions for the IT support team going forward.</a:t>
            </a:r>
            <a:endParaRPr lang="en-US" sz="1200" dirty="0"/>
          </a:p>
        </p:txBody>
      </p:sp>
      <p:pic>
        <p:nvPicPr>
          <p:cNvPr id="8" name="Picture 7">
            <a:extLst>
              <a:ext uri="{FF2B5EF4-FFF2-40B4-BE49-F238E27FC236}">
                <a16:creationId xmlns:a16="http://schemas.microsoft.com/office/drawing/2014/main" id="{E8691F3F-9730-347B-4A7C-1E7D282877E4}"/>
              </a:ext>
            </a:extLst>
          </p:cNvPr>
          <p:cNvPicPr>
            <a:picLocks noChangeAspect="1"/>
          </p:cNvPicPr>
          <p:nvPr/>
        </p:nvPicPr>
        <p:blipFill>
          <a:blip r:embed="rId3"/>
          <a:srcRect/>
          <a:stretch>
            <a:fillRect/>
          </a:stretch>
        </p:blipFill>
        <p:spPr>
          <a:xfrm>
            <a:off x="6426144" y="1534261"/>
            <a:ext cx="2534976" cy="25271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88515-9A2C-9FB2-A579-FC547C5A7E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45AE7C-C795-118B-2D81-8C890070E9B1}"/>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3" name="Text 1">
            <a:extLst>
              <a:ext uri="{FF2B5EF4-FFF2-40B4-BE49-F238E27FC236}">
                <a16:creationId xmlns:a16="http://schemas.microsoft.com/office/drawing/2014/main" id="{EFED47FD-1E45-3628-0EE9-FEB44254654B}"/>
              </a:ext>
            </a:extLst>
          </p:cNvPr>
          <p:cNvSpPr/>
          <p:nvPr/>
        </p:nvSpPr>
        <p:spPr>
          <a:xfrm>
            <a:off x="548640" y="274320"/>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Problem Statement</a:t>
            </a:r>
            <a:r>
              <a:rPr lang="en-US" sz="2600" b="1" dirty="0">
                <a:solidFill>
                  <a:srgbClr val="FFFFFF"/>
                </a:solidFill>
                <a:latin typeface="Calibri" pitchFamily="34" charset="0"/>
                <a:ea typeface="Calibri" pitchFamily="34" charset="-122"/>
                <a:cs typeface="Calibri" pitchFamily="34" charset="-120"/>
              </a:rPr>
              <a:t> </a:t>
            </a:r>
            <a:endParaRPr lang="en-US" sz="2600" dirty="0"/>
          </a:p>
        </p:txBody>
      </p:sp>
      <p:grpSp>
        <p:nvGrpSpPr>
          <p:cNvPr id="23" name="Group 22">
            <a:extLst>
              <a:ext uri="{FF2B5EF4-FFF2-40B4-BE49-F238E27FC236}">
                <a16:creationId xmlns:a16="http://schemas.microsoft.com/office/drawing/2014/main" id="{7FAC6F52-C07F-2404-58C2-FCE0FA214537}"/>
              </a:ext>
            </a:extLst>
          </p:cNvPr>
          <p:cNvGrpSpPr/>
          <p:nvPr/>
        </p:nvGrpSpPr>
        <p:grpSpPr>
          <a:xfrm>
            <a:off x="4053840" y="2281176"/>
            <a:ext cx="4569628" cy="2441421"/>
            <a:chOff x="548640" y="2430935"/>
            <a:chExt cx="4569628" cy="2441421"/>
          </a:xfrm>
        </p:grpSpPr>
        <p:sp>
          <p:nvSpPr>
            <p:cNvPr id="9" name="Shape 7">
              <a:extLst>
                <a:ext uri="{FF2B5EF4-FFF2-40B4-BE49-F238E27FC236}">
                  <a16:creationId xmlns:a16="http://schemas.microsoft.com/office/drawing/2014/main" id="{A3E15328-05BF-E4AD-E96B-472F61184B3F}"/>
                </a:ext>
              </a:extLst>
            </p:cNvPr>
            <p:cNvSpPr/>
            <p:nvPr/>
          </p:nvSpPr>
          <p:spPr>
            <a:xfrm>
              <a:off x="548640" y="2430935"/>
              <a:ext cx="4436072" cy="2441421"/>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8">
              <a:extLst>
                <a:ext uri="{FF2B5EF4-FFF2-40B4-BE49-F238E27FC236}">
                  <a16:creationId xmlns:a16="http://schemas.microsoft.com/office/drawing/2014/main" id="{1E0B7630-F911-B3F5-CDCC-BAC5E8AADD64}"/>
                </a:ext>
              </a:extLst>
            </p:cNvPr>
            <p:cNvSpPr/>
            <p:nvPr/>
          </p:nvSpPr>
          <p:spPr>
            <a:xfrm>
              <a:off x="856790" y="2495986"/>
              <a:ext cx="3953890" cy="165347"/>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Project Objectives</a:t>
              </a:r>
              <a:endParaRPr lang="en-US" sz="1200" dirty="0"/>
            </a:p>
          </p:txBody>
        </p:sp>
        <p:sp>
          <p:nvSpPr>
            <p:cNvPr id="11" name="Shape 9">
              <a:extLst>
                <a:ext uri="{FF2B5EF4-FFF2-40B4-BE49-F238E27FC236}">
                  <a16:creationId xmlns:a16="http://schemas.microsoft.com/office/drawing/2014/main" id="{5C4B8E5A-DAF8-0DD1-31DA-623E7B5BD9C4}"/>
                </a:ext>
              </a:extLst>
            </p:cNvPr>
            <p:cNvSpPr/>
            <p:nvPr/>
          </p:nvSpPr>
          <p:spPr>
            <a:xfrm>
              <a:off x="856789" y="2801142"/>
              <a:ext cx="347171" cy="198416"/>
            </a:xfrm>
            <a:prstGeom prst="ellipse">
              <a:avLst/>
            </a:prstGeom>
            <a:solidFill>
              <a:srgbClr val="F5A623"/>
            </a:solidFill>
            <a:ln w="12700">
              <a:solidFill>
                <a:srgbClr val="F5A623"/>
              </a:solidFill>
              <a:prstDash val="solid"/>
            </a:ln>
          </p:spPr>
          <p:txBody>
            <a:bodyPr/>
            <a:lstStyle/>
            <a:p>
              <a:endParaRPr lang="en-IN"/>
            </a:p>
          </p:txBody>
        </p:sp>
        <p:sp>
          <p:nvSpPr>
            <p:cNvPr id="12" name="Text 10">
              <a:extLst>
                <a:ext uri="{FF2B5EF4-FFF2-40B4-BE49-F238E27FC236}">
                  <a16:creationId xmlns:a16="http://schemas.microsoft.com/office/drawing/2014/main" id="{661D9ADF-1587-7DA3-D94A-CB257EE8EAED}"/>
                </a:ext>
              </a:extLst>
            </p:cNvPr>
            <p:cNvSpPr/>
            <p:nvPr/>
          </p:nvSpPr>
          <p:spPr>
            <a:xfrm>
              <a:off x="856789" y="2801142"/>
              <a:ext cx="347171" cy="198416"/>
            </a:xfrm>
            <a:prstGeom prst="rect">
              <a:avLst/>
            </a:prstGeom>
            <a:noFill/>
            <a:ln/>
          </p:spPr>
          <p:txBody>
            <a:bodyPr wrap="square" lIns="0" tIns="0" rIns="0" bIns="0" rtlCol="0" anchor="ctr"/>
            <a:lstStyle/>
            <a:p>
              <a:pPr marL="0" indent="0" algn="ctr">
                <a:buNone/>
              </a:pPr>
              <a:r>
                <a:rPr lang="en-US" sz="1000" b="1" dirty="0">
                  <a:solidFill>
                    <a:srgbClr val="0F1B2D"/>
                  </a:solidFill>
                  <a:latin typeface="Calibri" pitchFamily="34" charset="0"/>
                  <a:ea typeface="Calibri" pitchFamily="34" charset="-122"/>
                  <a:cs typeface="Calibri" pitchFamily="34" charset="-120"/>
                </a:rPr>
                <a:t>01</a:t>
              </a:r>
              <a:endParaRPr lang="en-US" sz="1000" dirty="0"/>
            </a:p>
          </p:txBody>
        </p:sp>
        <p:sp>
          <p:nvSpPr>
            <p:cNvPr id="13" name="Text 11">
              <a:extLst>
                <a:ext uri="{FF2B5EF4-FFF2-40B4-BE49-F238E27FC236}">
                  <a16:creationId xmlns:a16="http://schemas.microsoft.com/office/drawing/2014/main" id="{0DEFB0A5-06C4-65CB-A3C2-BD3BFD98A4E2}"/>
                </a:ext>
              </a:extLst>
            </p:cNvPr>
            <p:cNvSpPr/>
            <p:nvPr/>
          </p:nvSpPr>
          <p:spPr>
            <a:xfrm>
              <a:off x="1550123" y="2800560"/>
              <a:ext cx="3568145" cy="275578"/>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Understand ticket distribution and trends over time</a:t>
              </a:r>
              <a:endParaRPr lang="en-US" sz="1050" dirty="0"/>
            </a:p>
          </p:txBody>
        </p:sp>
        <p:sp>
          <p:nvSpPr>
            <p:cNvPr id="14" name="Shape 12">
              <a:extLst>
                <a:ext uri="{FF2B5EF4-FFF2-40B4-BE49-F238E27FC236}">
                  <a16:creationId xmlns:a16="http://schemas.microsoft.com/office/drawing/2014/main" id="{08EB3B9E-1156-D2E0-7F45-E266A5EC55DD}"/>
                </a:ext>
              </a:extLst>
            </p:cNvPr>
            <p:cNvSpPr/>
            <p:nvPr/>
          </p:nvSpPr>
          <p:spPr>
            <a:xfrm>
              <a:off x="856789" y="3375489"/>
              <a:ext cx="347171" cy="198416"/>
            </a:xfrm>
            <a:prstGeom prst="ellipse">
              <a:avLst/>
            </a:prstGeom>
            <a:solidFill>
              <a:srgbClr val="F5A623"/>
            </a:solidFill>
            <a:ln w="12700">
              <a:solidFill>
                <a:srgbClr val="F5A623"/>
              </a:solidFill>
              <a:prstDash val="solid"/>
            </a:ln>
          </p:spPr>
          <p:txBody>
            <a:bodyPr/>
            <a:lstStyle/>
            <a:p>
              <a:endParaRPr lang="en-IN"/>
            </a:p>
          </p:txBody>
        </p:sp>
        <p:sp>
          <p:nvSpPr>
            <p:cNvPr id="15" name="Text 13">
              <a:extLst>
                <a:ext uri="{FF2B5EF4-FFF2-40B4-BE49-F238E27FC236}">
                  <a16:creationId xmlns:a16="http://schemas.microsoft.com/office/drawing/2014/main" id="{273C9189-B505-D4AC-ECBE-430F3D77161F}"/>
                </a:ext>
              </a:extLst>
            </p:cNvPr>
            <p:cNvSpPr/>
            <p:nvPr/>
          </p:nvSpPr>
          <p:spPr>
            <a:xfrm>
              <a:off x="856789" y="3375489"/>
              <a:ext cx="347171" cy="198416"/>
            </a:xfrm>
            <a:prstGeom prst="rect">
              <a:avLst/>
            </a:prstGeom>
            <a:noFill/>
            <a:ln/>
          </p:spPr>
          <p:txBody>
            <a:bodyPr wrap="square" lIns="0" tIns="0" rIns="0" bIns="0" rtlCol="0" anchor="ctr"/>
            <a:lstStyle/>
            <a:p>
              <a:pPr marL="0" indent="0" algn="ctr">
                <a:buNone/>
              </a:pPr>
              <a:r>
                <a:rPr lang="en-US" sz="1000" b="1" dirty="0">
                  <a:solidFill>
                    <a:srgbClr val="0F1B2D"/>
                  </a:solidFill>
                  <a:latin typeface="Calibri" pitchFamily="34" charset="0"/>
                  <a:ea typeface="Calibri" pitchFamily="34" charset="-122"/>
                  <a:cs typeface="Calibri" pitchFamily="34" charset="-120"/>
                </a:rPr>
                <a:t>02</a:t>
              </a:r>
              <a:endParaRPr lang="en-US" sz="1000" dirty="0"/>
            </a:p>
          </p:txBody>
        </p:sp>
        <p:sp>
          <p:nvSpPr>
            <p:cNvPr id="16" name="Text 14">
              <a:extLst>
                <a:ext uri="{FF2B5EF4-FFF2-40B4-BE49-F238E27FC236}">
                  <a16:creationId xmlns:a16="http://schemas.microsoft.com/office/drawing/2014/main" id="{FB542705-20B7-38BE-C91D-D0C35927CF8E}"/>
                </a:ext>
              </a:extLst>
            </p:cNvPr>
            <p:cNvSpPr/>
            <p:nvPr/>
          </p:nvSpPr>
          <p:spPr>
            <a:xfrm>
              <a:off x="1550123" y="3374906"/>
              <a:ext cx="3568145" cy="275578"/>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Evaluate agent performance and operational efficiency</a:t>
              </a:r>
              <a:endParaRPr lang="en-US" sz="1050" dirty="0"/>
            </a:p>
          </p:txBody>
        </p:sp>
        <p:sp>
          <p:nvSpPr>
            <p:cNvPr id="17" name="Shape 15">
              <a:extLst>
                <a:ext uri="{FF2B5EF4-FFF2-40B4-BE49-F238E27FC236}">
                  <a16:creationId xmlns:a16="http://schemas.microsoft.com/office/drawing/2014/main" id="{2350822E-C504-62B9-521B-9CFDF626550A}"/>
                </a:ext>
              </a:extLst>
            </p:cNvPr>
            <p:cNvSpPr/>
            <p:nvPr/>
          </p:nvSpPr>
          <p:spPr>
            <a:xfrm>
              <a:off x="856789" y="3949835"/>
              <a:ext cx="347171" cy="198416"/>
            </a:xfrm>
            <a:prstGeom prst="ellipse">
              <a:avLst/>
            </a:prstGeom>
            <a:solidFill>
              <a:srgbClr val="F5A623"/>
            </a:solidFill>
            <a:ln w="12700">
              <a:solidFill>
                <a:srgbClr val="F5A623"/>
              </a:solidFill>
              <a:prstDash val="solid"/>
            </a:ln>
          </p:spPr>
          <p:txBody>
            <a:bodyPr/>
            <a:lstStyle/>
            <a:p>
              <a:endParaRPr lang="en-IN"/>
            </a:p>
          </p:txBody>
        </p:sp>
        <p:sp>
          <p:nvSpPr>
            <p:cNvPr id="18" name="Text 16">
              <a:extLst>
                <a:ext uri="{FF2B5EF4-FFF2-40B4-BE49-F238E27FC236}">
                  <a16:creationId xmlns:a16="http://schemas.microsoft.com/office/drawing/2014/main" id="{F1D432E8-B316-1472-CDBC-1A34469A910E}"/>
                </a:ext>
              </a:extLst>
            </p:cNvPr>
            <p:cNvSpPr/>
            <p:nvPr/>
          </p:nvSpPr>
          <p:spPr>
            <a:xfrm>
              <a:off x="856789" y="3949835"/>
              <a:ext cx="347171" cy="198416"/>
            </a:xfrm>
            <a:prstGeom prst="rect">
              <a:avLst/>
            </a:prstGeom>
            <a:noFill/>
            <a:ln/>
          </p:spPr>
          <p:txBody>
            <a:bodyPr wrap="square" lIns="0" tIns="0" rIns="0" bIns="0" rtlCol="0" anchor="ctr"/>
            <a:lstStyle/>
            <a:p>
              <a:pPr marL="0" indent="0" algn="ctr">
                <a:buNone/>
              </a:pPr>
              <a:r>
                <a:rPr lang="en-US" sz="1000" b="1" dirty="0">
                  <a:solidFill>
                    <a:srgbClr val="0F1B2D"/>
                  </a:solidFill>
                  <a:latin typeface="Calibri" pitchFamily="34" charset="0"/>
                  <a:ea typeface="Calibri" pitchFamily="34" charset="-122"/>
                  <a:cs typeface="Calibri" pitchFamily="34" charset="-120"/>
                </a:rPr>
                <a:t>03</a:t>
              </a:r>
              <a:endParaRPr lang="en-US" sz="1000" dirty="0"/>
            </a:p>
          </p:txBody>
        </p:sp>
        <p:sp>
          <p:nvSpPr>
            <p:cNvPr id="19" name="Text 17">
              <a:extLst>
                <a:ext uri="{FF2B5EF4-FFF2-40B4-BE49-F238E27FC236}">
                  <a16:creationId xmlns:a16="http://schemas.microsoft.com/office/drawing/2014/main" id="{B5B0C5B5-1628-0733-F510-A69D34E09F62}"/>
                </a:ext>
              </a:extLst>
            </p:cNvPr>
            <p:cNvSpPr/>
            <p:nvPr/>
          </p:nvSpPr>
          <p:spPr>
            <a:xfrm>
              <a:off x="1550123" y="3949252"/>
              <a:ext cx="3568145" cy="275578"/>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Identify improvement areas for resolution time and satisfaction</a:t>
              </a:r>
              <a:endParaRPr lang="en-US" sz="1050" dirty="0"/>
            </a:p>
          </p:txBody>
        </p:sp>
        <p:sp>
          <p:nvSpPr>
            <p:cNvPr id="20" name="Shape 18">
              <a:extLst>
                <a:ext uri="{FF2B5EF4-FFF2-40B4-BE49-F238E27FC236}">
                  <a16:creationId xmlns:a16="http://schemas.microsoft.com/office/drawing/2014/main" id="{49D574D3-4538-E743-5933-CF0D28A055C0}"/>
                </a:ext>
              </a:extLst>
            </p:cNvPr>
            <p:cNvSpPr/>
            <p:nvPr/>
          </p:nvSpPr>
          <p:spPr>
            <a:xfrm>
              <a:off x="856789" y="4524181"/>
              <a:ext cx="347171" cy="198416"/>
            </a:xfrm>
            <a:prstGeom prst="ellipse">
              <a:avLst/>
            </a:prstGeom>
            <a:solidFill>
              <a:srgbClr val="F5A623"/>
            </a:solidFill>
            <a:ln w="12700">
              <a:solidFill>
                <a:srgbClr val="F5A623"/>
              </a:solidFill>
              <a:prstDash val="solid"/>
            </a:ln>
          </p:spPr>
          <p:txBody>
            <a:bodyPr/>
            <a:lstStyle/>
            <a:p>
              <a:endParaRPr lang="en-IN"/>
            </a:p>
          </p:txBody>
        </p:sp>
        <p:sp>
          <p:nvSpPr>
            <p:cNvPr id="21" name="Text 19">
              <a:extLst>
                <a:ext uri="{FF2B5EF4-FFF2-40B4-BE49-F238E27FC236}">
                  <a16:creationId xmlns:a16="http://schemas.microsoft.com/office/drawing/2014/main" id="{9A8376AF-7059-69BB-264C-D966EA2668DF}"/>
                </a:ext>
              </a:extLst>
            </p:cNvPr>
            <p:cNvSpPr/>
            <p:nvPr/>
          </p:nvSpPr>
          <p:spPr>
            <a:xfrm>
              <a:off x="856789" y="4524181"/>
              <a:ext cx="347171" cy="198416"/>
            </a:xfrm>
            <a:prstGeom prst="rect">
              <a:avLst/>
            </a:prstGeom>
            <a:noFill/>
            <a:ln/>
          </p:spPr>
          <p:txBody>
            <a:bodyPr wrap="square" lIns="0" tIns="0" rIns="0" bIns="0" rtlCol="0" anchor="ctr"/>
            <a:lstStyle/>
            <a:p>
              <a:pPr marL="0" indent="0" algn="ctr">
                <a:buNone/>
              </a:pPr>
              <a:r>
                <a:rPr lang="en-US" sz="1000" b="1" dirty="0">
                  <a:solidFill>
                    <a:srgbClr val="0F1B2D"/>
                  </a:solidFill>
                  <a:latin typeface="Calibri" pitchFamily="34" charset="0"/>
                  <a:ea typeface="Calibri" pitchFamily="34" charset="-122"/>
                  <a:cs typeface="Calibri" pitchFamily="34" charset="-120"/>
                </a:rPr>
                <a:t>04</a:t>
              </a:r>
              <a:endParaRPr lang="en-US" sz="1000" dirty="0"/>
            </a:p>
          </p:txBody>
        </p:sp>
        <p:sp>
          <p:nvSpPr>
            <p:cNvPr id="22" name="Text 20">
              <a:extLst>
                <a:ext uri="{FF2B5EF4-FFF2-40B4-BE49-F238E27FC236}">
                  <a16:creationId xmlns:a16="http://schemas.microsoft.com/office/drawing/2014/main" id="{7069757B-2E4A-9F26-BA50-A71FC3658064}"/>
                </a:ext>
              </a:extLst>
            </p:cNvPr>
            <p:cNvSpPr/>
            <p:nvPr/>
          </p:nvSpPr>
          <p:spPr>
            <a:xfrm>
              <a:off x="1550123" y="4523599"/>
              <a:ext cx="3568145" cy="275578"/>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Provide actionable insights to guide future IT investment decisions</a:t>
              </a:r>
              <a:endParaRPr lang="en-US" sz="1050" dirty="0"/>
            </a:p>
          </p:txBody>
        </p:sp>
      </p:grpSp>
      <p:sp>
        <p:nvSpPr>
          <p:cNvPr id="8" name="Shape 2">
            <a:extLst>
              <a:ext uri="{FF2B5EF4-FFF2-40B4-BE49-F238E27FC236}">
                <a16:creationId xmlns:a16="http://schemas.microsoft.com/office/drawing/2014/main" id="{0001D0A8-3314-40F0-749B-6C4C6FE80184}"/>
              </a:ext>
            </a:extLst>
          </p:cNvPr>
          <p:cNvSpPr/>
          <p:nvPr/>
        </p:nvSpPr>
        <p:spPr>
          <a:xfrm>
            <a:off x="701041" y="845821"/>
            <a:ext cx="7802879" cy="1228406"/>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r>
              <a:rPr lang="en-IN" sz="1200" dirty="0"/>
              <a:t>Modern IT support teams handle thousands of tickets every month, and even small inefficiencies can significantly affect employee productivity and satisfaction. This project analyses five years of IT support ticket data to understand ticket volume trends, agent performance, resolution times, and customer satisfaction. Before any deeper analysis, it is important to first establish what the raw data actually contains, how clean and complete it is, and what basic patterns exist across categories, agents, and time. </a:t>
            </a:r>
          </a:p>
        </p:txBody>
      </p:sp>
      <p:pic>
        <p:nvPicPr>
          <p:cNvPr id="25" name="Picture 24">
            <a:extLst>
              <a:ext uri="{FF2B5EF4-FFF2-40B4-BE49-F238E27FC236}">
                <a16:creationId xmlns:a16="http://schemas.microsoft.com/office/drawing/2014/main" id="{4B6F0A11-C73C-3AEF-C42C-05325401D061}"/>
              </a:ext>
            </a:extLst>
          </p:cNvPr>
          <p:cNvPicPr>
            <a:picLocks noChangeAspect="1"/>
          </p:cNvPicPr>
          <p:nvPr/>
        </p:nvPicPr>
        <p:blipFill>
          <a:blip r:embed="rId3"/>
          <a:srcRect/>
          <a:stretch>
            <a:fillRect/>
          </a:stretch>
        </p:blipFill>
        <p:spPr>
          <a:xfrm>
            <a:off x="553621" y="2346227"/>
            <a:ext cx="3134162" cy="2086265"/>
          </a:xfrm>
          <a:prstGeom prst="rect">
            <a:avLst/>
          </a:prstGeom>
        </p:spPr>
      </p:pic>
    </p:spTree>
    <p:extLst>
      <p:ext uri="{BB962C8B-B14F-4D97-AF65-F5344CB8AC3E}">
        <p14:creationId xmlns:p14="http://schemas.microsoft.com/office/powerpoint/2010/main" val="1674060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E8D3B-F489-0484-550F-4E97BBE217BF}"/>
            </a:ext>
          </a:extLst>
        </p:cNvPr>
        <p:cNvGrpSpPr/>
        <p:nvPr/>
      </p:nvGrpSpPr>
      <p:grpSpPr>
        <a:xfrm>
          <a:off x="0" y="0"/>
          <a:ext cx="0" cy="0"/>
          <a:chOff x="0" y="0"/>
          <a:chExt cx="0" cy="0"/>
        </a:xfrm>
      </p:grpSpPr>
      <p:sp>
        <p:nvSpPr>
          <p:cNvPr id="3" name="Accent"/>
          <p:cNvSpPr/>
          <p:nvPr/>
        </p:nvSpPr>
        <p:spPr>
          <a:xfrm>
            <a:off x="0" y="0"/>
            <a:ext cx="109728" cy="5143500"/>
          </a:xfrm>
          <a:prstGeom prst="rect">
            <a:avLst/>
          </a:prstGeom>
          <a:solidFill>
            <a:srgbClr val="00C6D7"/>
          </a:solidFill>
          <a:ln>
            <a:noFill/>
          </a:ln>
        </p:spPr>
        <p:txBody>
          <a:bodyPr/>
          <a:lstStyle/>
          <a:p>
            <a:endParaRPr lang="en-US"/>
          </a:p>
        </p:txBody>
      </p:sp>
      <p:sp>
        <p:nvSpPr>
          <p:cNvPr id="4" name="Title"/>
          <p:cNvSpPr txBox="1"/>
          <p:nvPr/>
        </p:nvSpPr>
        <p:spPr>
          <a:xfrm>
            <a:off x="320040" y="201168"/>
            <a:ext cx="8503920" cy="594360"/>
          </a:xfrm>
          <a:prstGeom prst="rect">
            <a:avLst/>
          </a:prstGeom>
          <a:noFill/>
          <a:ln>
            <a:noFill/>
          </a:ln>
        </p:spPr>
        <p:txBody>
          <a:bodyPr wrap="square" anchor="ctr"/>
          <a:lstStyle/>
          <a:p>
            <a:pPr algn="l">
              <a:buNone/>
            </a:pPr>
            <a:r>
              <a:rPr lang="en-US" sz="2800" b="1" dirty="0">
                <a:solidFill>
                  <a:srgbClr val="FFFFFF"/>
                </a:solidFill>
                <a:latin typeface="Calibri"/>
              </a:rPr>
              <a:t>Dataset Overview</a:t>
            </a:r>
          </a:p>
        </p:txBody>
      </p:sp>
      <p:sp>
        <p:nvSpPr>
          <p:cNvPr id="101" name="Card1"/>
          <p:cNvSpPr/>
          <p:nvPr/>
        </p:nvSpPr>
        <p:spPr>
          <a:xfrm>
            <a:off x="320040" y="900000"/>
            <a:ext cx="4146960" cy="1150000"/>
          </a:xfrm>
          <a:prstGeom prst="rect">
            <a:avLst/>
          </a:prstGeom>
          <a:solidFill>
            <a:srgbClr val="1A2942"/>
          </a:solidFill>
          <a:ln>
            <a:noFill/>
          </a:ln>
        </p:spPr>
        <p:txBody>
          <a:bodyPr/>
          <a:lstStyle/>
          <a:p>
            <a:endParaRPr lang="en-US"/>
          </a:p>
        </p:txBody>
      </p:sp>
      <p:sp>
        <p:nvSpPr>
          <p:cNvPr id="141" name="Bar1"/>
          <p:cNvSpPr/>
          <p:nvPr/>
        </p:nvSpPr>
        <p:spPr>
          <a:xfrm>
            <a:off x="320040" y="900000"/>
            <a:ext cx="45720" cy="1150000"/>
          </a:xfrm>
          <a:prstGeom prst="rect">
            <a:avLst/>
          </a:prstGeom>
          <a:solidFill>
            <a:srgbClr val="00C6D7"/>
          </a:solidFill>
          <a:ln>
            <a:noFill/>
          </a:ln>
        </p:spPr>
        <p:txBody>
          <a:bodyPr/>
          <a:lstStyle/>
          <a:p>
            <a:endParaRPr lang="en-US"/>
          </a:p>
        </p:txBody>
      </p:sp>
      <p:sp>
        <p:nvSpPr>
          <p:cNvPr id="181" name="Txt1"/>
          <p:cNvSpPr txBox="1"/>
          <p:nvPr/>
        </p:nvSpPr>
        <p:spPr>
          <a:xfrm>
            <a:off x="594360" y="1014300"/>
            <a:ext cx="3689760" cy="921400"/>
          </a:xfrm>
          <a:prstGeom prst="rect">
            <a:avLst/>
          </a:prstGeom>
          <a:noFill/>
          <a:ln>
            <a:noFill/>
          </a:ln>
        </p:spPr>
        <p:txBody>
          <a:bodyPr wrap="square" anchor="ctr">
            <a:normAutofit/>
          </a:bodyPr>
          <a:lstStyle/>
          <a:p>
            <a:pPr>
              <a:spcAft>
                <a:spcPts val="400"/>
              </a:spcAft>
              <a:buNone/>
            </a:pPr>
            <a:r>
              <a:rPr lang="en-US" sz="1200" b="1" dirty="0">
                <a:solidFill>
                  <a:srgbClr val="00C6D7"/>
                </a:solidFill>
                <a:latin typeface="Calibri"/>
              </a:rPr>
              <a:t>What the data covers</a:t>
            </a:r>
          </a:p>
          <a:p>
            <a:pPr>
              <a:lnSpc>
                <a:spcPct val="105000"/>
              </a:lnSpc>
              <a:spcAft>
                <a:spcPts val="200"/>
              </a:spcAft>
              <a:buNone/>
            </a:pPr>
            <a:r>
              <a:rPr lang="en-US" sz="1200" dirty="0">
                <a:solidFill>
                  <a:srgbClr val="D6E2F0"/>
                </a:solidFill>
                <a:latin typeface="Calibri"/>
              </a:rPr>
              <a:t>97,498 tickets spanning 2016–2020</a:t>
            </a:r>
          </a:p>
          <a:p>
            <a:pPr>
              <a:lnSpc>
                <a:spcPct val="105000"/>
              </a:lnSpc>
              <a:spcAft>
                <a:spcPts val="200"/>
              </a:spcAft>
              <a:buNone/>
            </a:pPr>
            <a:r>
              <a:rPr lang="en-US" sz="1200" dirty="0">
                <a:solidFill>
                  <a:srgbClr val="D6E2F0"/>
                </a:solidFill>
                <a:latin typeface="Calibri"/>
              </a:rPr>
              <a:t>50 agents across all request categories</a:t>
            </a:r>
          </a:p>
        </p:txBody>
      </p:sp>
      <p:sp>
        <p:nvSpPr>
          <p:cNvPr id="102" name="Card2"/>
          <p:cNvSpPr/>
          <p:nvPr/>
        </p:nvSpPr>
        <p:spPr>
          <a:xfrm>
            <a:off x="4677000" y="900000"/>
            <a:ext cx="4146960" cy="1150000"/>
          </a:xfrm>
          <a:prstGeom prst="rect">
            <a:avLst/>
          </a:prstGeom>
          <a:solidFill>
            <a:srgbClr val="1A2942"/>
          </a:solidFill>
          <a:ln>
            <a:noFill/>
          </a:ln>
        </p:spPr>
        <p:txBody>
          <a:bodyPr/>
          <a:lstStyle/>
          <a:p>
            <a:endParaRPr lang="en-US"/>
          </a:p>
        </p:txBody>
      </p:sp>
      <p:sp>
        <p:nvSpPr>
          <p:cNvPr id="142" name="Bar2"/>
          <p:cNvSpPr/>
          <p:nvPr/>
        </p:nvSpPr>
        <p:spPr>
          <a:xfrm>
            <a:off x="4677000" y="900000"/>
            <a:ext cx="45720" cy="1150000"/>
          </a:xfrm>
          <a:prstGeom prst="rect">
            <a:avLst/>
          </a:prstGeom>
          <a:solidFill>
            <a:srgbClr val="00C6D7"/>
          </a:solidFill>
          <a:ln>
            <a:noFill/>
          </a:ln>
        </p:spPr>
        <p:txBody>
          <a:bodyPr/>
          <a:lstStyle/>
          <a:p>
            <a:endParaRPr lang="en-US"/>
          </a:p>
        </p:txBody>
      </p:sp>
      <p:sp>
        <p:nvSpPr>
          <p:cNvPr id="182" name="Txt2"/>
          <p:cNvSpPr txBox="1"/>
          <p:nvPr/>
        </p:nvSpPr>
        <p:spPr>
          <a:xfrm>
            <a:off x="4928460" y="1014300"/>
            <a:ext cx="3689760" cy="921400"/>
          </a:xfrm>
          <a:prstGeom prst="rect">
            <a:avLst/>
          </a:prstGeom>
          <a:noFill/>
          <a:ln>
            <a:noFill/>
          </a:ln>
        </p:spPr>
        <p:txBody>
          <a:bodyPr wrap="square" anchor="ctr">
            <a:normAutofit/>
          </a:bodyPr>
          <a:lstStyle/>
          <a:p>
            <a:pPr>
              <a:spcAft>
                <a:spcPts val="400"/>
              </a:spcAft>
              <a:buNone/>
            </a:pPr>
            <a:r>
              <a:rPr lang="en-US" sz="1200" b="1" dirty="0">
                <a:solidFill>
                  <a:srgbClr val="00C6D7"/>
                </a:solidFill>
                <a:latin typeface="Calibri"/>
              </a:rPr>
              <a:t>Key fields</a:t>
            </a:r>
          </a:p>
          <a:p>
            <a:pPr>
              <a:lnSpc>
                <a:spcPct val="105000"/>
              </a:lnSpc>
              <a:spcAft>
                <a:spcPts val="200"/>
              </a:spcAft>
              <a:buNone/>
            </a:pPr>
            <a:r>
              <a:rPr lang="en-US" sz="1200" dirty="0">
                <a:solidFill>
                  <a:srgbClr val="D6E2F0"/>
                </a:solidFill>
                <a:latin typeface="Calibri"/>
              </a:rPr>
              <a:t>Date, Request Category, Severity, Priority,</a:t>
            </a:r>
          </a:p>
          <a:p>
            <a:pPr>
              <a:lnSpc>
                <a:spcPct val="105000"/>
              </a:lnSpc>
              <a:spcAft>
                <a:spcPts val="200"/>
              </a:spcAft>
              <a:buNone/>
            </a:pPr>
            <a:r>
              <a:rPr lang="en-US" sz="1200" dirty="0">
                <a:solidFill>
                  <a:srgbClr val="D6E2F0"/>
                </a:solidFill>
                <a:latin typeface="Calibri"/>
              </a:rPr>
              <a:t>Resolution Time, Satisfaction Rate, agent demographics</a:t>
            </a:r>
          </a:p>
        </p:txBody>
      </p:sp>
      <p:sp>
        <p:nvSpPr>
          <p:cNvPr id="103" name="Card3"/>
          <p:cNvSpPr/>
          <p:nvPr/>
        </p:nvSpPr>
        <p:spPr>
          <a:xfrm>
            <a:off x="320040" y="2200000"/>
            <a:ext cx="4146960" cy="1250000"/>
          </a:xfrm>
          <a:prstGeom prst="rect">
            <a:avLst/>
          </a:prstGeom>
          <a:solidFill>
            <a:srgbClr val="1A2942"/>
          </a:solidFill>
          <a:ln>
            <a:noFill/>
          </a:ln>
        </p:spPr>
        <p:txBody>
          <a:bodyPr/>
          <a:lstStyle/>
          <a:p>
            <a:endParaRPr lang="en-US"/>
          </a:p>
        </p:txBody>
      </p:sp>
      <p:sp>
        <p:nvSpPr>
          <p:cNvPr id="143" name="Bar3"/>
          <p:cNvSpPr/>
          <p:nvPr/>
        </p:nvSpPr>
        <p:spPr>
          <a:xfrm>
            <a:off x="320040" y="2200000"/>
            <a:ext cx="45720" cy="1250000"/>
          </a:xfrm>
          <a:prstGeom prst="rect">
            <a:avLst/>
          </a:prstGeom>
          <a:solidFill>
            <a:srgbClr val="4A7FE0"/>
          </a:solidFill>
          <a:ln>
            <a:noFill/>
          </a:ln>
        </p:spPr>
        <p:txBody>
          <a:bodyPr/>
          <a:lstStyle/>
          <a:p>
            <a:endParaRPr lang="en-US"/>
          </a:p>
        </p:txBody>
      </p:sp>
      <p:sp>
        <p:nvSpPr>
          <p:cNvPr id="183" name="Txt3"/>
          <p:cNvSpPr txBox="1"/>
          <p:nvPr/>
        </p:nvSpPr>
        <p:spPr>
          <a:xfrm>
            <a:off x="594360" y="2314300"/>
            <a:ext cx="3689760" cy="1021400"/>
          </a:xfrm>
          <a:prstGeom prst="rect">
            <a:avLst/>
          </a:prstGeom>
          <a:noFill/>
          <a:ln>
            <a:noFill/>
          </a:ln>
        </p:spPr>
        <p:txBody>
          <a:bodyPr wrap="square" anchor="ctr">
            <a:noAutofit/>
          </a:bodyPr>
          <a:lstStyle/>
          <a:p>
            <a:pPr>
              <a:spcAft>
                <a:spcPts val="400"/>
              </a:spcAft>
              <a:buNone/>
            </a:pPr>
            <a:r>
              <a:rPr lang="en-US" sz="1200" b="1" dirty="0">
                <a:solidFill>
                  <a:srgbClr val="4A7FE0"/>
                </a:solidFill>
                <a:latin typeface="Calibri"/>
              </a:rPr>
              <a:t>Source</a:t>
            </a:r>
          </a:p>
          <a:p>
            <a:pPr>
              <a:lnSpc>
                <a:spcPct val="105000"/>
              </a:lnSpc>
              <a:spcAft>
                <a:spcPts val="200"/>
              </a:spcAft>
              <a:buNone/>
            </a:pPr>
            <a:r>
              <a:rPr lang="en-US" sz="1200" dirty="0">
                <a:solidFill>
                  <a:srgbClr val="D6E2F0"/>
                </a:solidFill>
                <a:latin typeface="Calibri"/>
              </a:rPr>
              <a:t>IT ticket log covering Hardware, Software, System and Login Access,</a:t>
            </a:r>
          </a:p>
          <a:p>
            <a:pPr>
              <a:lnSpc>
                <a:spcPct val="105000"/>
              </a:lnSpc>
              <a:spcAft>
                <a:spcPts val="200"/>
              </a:spcAft>
              <a:buNone/>
            </a:pPr>
            <a:r>
              <a:rPr lang="en-US" sz="1200" dirty="0">
                <a:solidFill>
                  <a:srgbClr val="D6E2F0"/>
                </a:solidFill>
                <a:latin typeface="Calibri"/>
              </a:rPr>
              <a:t>with Issue Type (IT Error / IT Request) — plus a separate</a:t>
            </a:r>
          </a:p>
          <a:p>
            <a:pPr>
              <a:lnSpc>
                <a:spcPct val="105000"/>
              </a:lnSpc>
              <a:spcAft>
                <a:spcPts val="200"/>
              </a:spcAft>
              <a:buNone/>
            </a:pPr>
            <a:r>
              <a:rPr lang="en-US" sz="1200" dirty="0">
                <a:solidFill>
                  <a:srgbClr val="D6E2F0"/>
                </a:solidFill>
                <a:latin typeface="Calibri"/>
              </a:rPr>
              <a:t>IT Agents sheet with age and tenure</a:t>
            </a:r>
          </a:p>
        </p:txBody>
      </p:sp>
      <p:sp>
        <p:nvSpPr>
          <p:cNvPr id="104" name="Card4"/>
          <p:cNvSpPr/>
          <p:nvPr/>
        </p:nvSpPr>
        <p:spPr>
          <a:xfrm>
            <a:off x="4677000" y="2200000"/>
            <a:ext cx="4146960" cy="1250000"/>
          </a:xfrm>
          <a:prstGeom prst="rect">
            <a:avLst/>
          </a:prstGeom>
          <a:solidFill>
            <a:srgbClr val="1A2942"/>
          </a:solidFill>
          <a:ln>
            <a:noFill/>
          </a:ln>
        </p:spPr>
        <p:txBody>
          <a:bodyPr/>
          <a:lstStyle/>
          <a:p>
            <a:endParaRPr lang="en-US"/>
          </a:p>
        </p:txBody>
      </p:sp>
      <p:sp>
        <p:nvSpPr>
          <p:cNvPr id="144" name="Bar4"/>
          <p:cNvSpPr/>
          <p:nvPr/>
        </p:nvSpPr>
        <p:spPr>
          <a:xfrm>
            <a:off x="4677000" y="2200000"/>
            <a:ext cx="45720" cy="1250000"/>
          </a:xfrm>
          <a:prstGeom prst="rect">
            <a:avLst/>
          </a:prstGeom>
          <a:solidFill>
            <a:srgbClr val="4A7FE0"/>
          </a:solidFill>
          <a:ln>
            <a:noFill/>
          </a:ln>
        </p:spPr>
        <p:txBody>
          <a:bodyPr/>
          <a:lstStyle/>
          <a:p>
            <a:endParaRPr lang="en-US"/>
          </a:p>
        </p:txBody>
      </p:sp>
      <p:sp>
        <p:nvSpPr>
          <p:cNvPr id="184" name="Txt4"/>
          <p:cNvSpPr txBox="1"/>
          <p:nvPr/>
        </p:nvSpPr>
        <p:spPr>
          <a:xfrm>
            <a:off x="4951320" y="2314300"/>
            <a:ext cx="3689760" cy="1021400"/>
          </a:xfrm>
          <a:prstGeom prst="rect">
            <a:avLst/>
          </a:prstGeom>
          <a:noFill/>
          <a:ln>
            <a:noFill/>
          </a:ln>
        </p:spPr>
        <p:txBody>
          <a:bodyPr wrap="square" anchor="ctr">
            <a:normAutofit/>
          </a:bodyPr>
          <a:lstStyle/>
          <a:p>
            <a:pPr>
              <a:spcAft>
                <a:spcPts val="400"/>
              </a:spcAft>
              <a:buNone/>
            </a:pPr>
            <a:r>
              <a:rPr lang="en-US" sz="1200" b="1" dirty="0">
                <a:solidFill>
                  <a:srgbClr val="4A7FE0"/>
                </a:solidFill>
                <a:latin typeface="Calibri"/>
              </a:rPr>
              <a:t>Data cleaning</a:t>
            </a:r>
          </a:p>
          <a:p>
            <a:pPr>
              <a:lnSpc>
                <a:spcPct val="105000"/>
              </a:lnSpc>
              <a:spcAft>
                <a:spcPts val="200"/>
              </a:spcAft>
              <a:buNone/>
            </a:pPr>
            <a:r>
              <a:rPr lang="en-US" sz="1200" dirty="0">
                <a:solidFill>
                  <a:srgbClr val="D6E2F0"/>
                </a:solidFill>
                <a:latin typeface="Calibri"/>
              </a:rPr>
              <a:t>Removed duplicates, standardized Severity and Priority values,</a:t>
            </a:r>
          </a:p>
          <a:p>
            <a:pPr>
              <a:lnSpc>
                <a:spcPct val="105000"/>
              </a:lnSpc>
              <a:spcAft>
                <a:spcPts val="200"/>
              </a:spcAft>
              <a:buNone/>
            </a:pPr>
            <a:r>
              <a:rPr lang="en-US" sz="1200" dirty="0">
                <a:solidFill>
                  <a:srgbClr val="D6E2F0"/>
                </a:solidFill>
                <a:latin typeface="Calibri"/>
              </a:rPr>
              <a:t>corrected date formats and verified numeric fields</a:t>
            </a:r>
          </a:p>
        </p:txBody>
      </p:sp>
      <p:sp>
        <p:nvSpPr>
          <p:cNvPr id="105" name="Card5"/>
          <p:cNvSpPr/>
          <p:nvPr/>
        </p:nvSpPr>
        <p:spPr>
          <a:xfrm>
            <a:off x="320040" y="3620000"/>
            <a:ext cx="8503920" cy="900000"/>
          </a:xfrm>
          <a:prstGeom prst="rect">
            <a:avLst/>
          </a:prstGeom>
          <a:solidFill>
            <a:srgbClr val="1A2942"/>
          </a:solidFill>
          <a:ln>
            <a:noFill/>
          </a:ln>
        </p:spPr>
        <p:txBody>
          <a:bodyPr/>
          <a:lstStyle/>
          <a:p>
            <a:endParaRPr lang="en-US"/>
          </a:p>
        </p:txBody>
      </p:sp>
      <p:sp>
        <p:nvSpPr>
          <p:cNvPr id="145" name="Bar5"/>
          <p:cNvSpPr/>
          <p:nvPr/>
        </p:nvSpPr>
        <p:spPr>
          <a:xfrm>
            <a:off x="320040" y="3620000"/>
            <a:ext cx="45720" cy="900000"/>
          </a:xfrm>
          <a:prstGeom prst="rect">
            <a:avLst/>
          </a:prstGeom>
          <a:solidFill>
            <a:srgbClr val="00C6D7"/>
          </a:solidFill>
          <a:ln>
            <a:noFill/>
          </a:ln>
        </p:spPr>
        <p:txBody>
          <a:bodyPr/>
          <a:lstStyle/>
          <a:p>
            <a:endParaRPr lang="en-US"/>
          </a:p>
        </p:txBody>
      </p:sp>
      <p:sp>
        <p:nvSpPr>
          <p:cNvPr id="185" name="Txt5"/>
          <p:cNvSpPr txBox="1"/>
          <p:nvPr/>
        </p:nvSpPr>
        <p:spPr>
          <a:xfrm>
            <a:off x="699360" y="3734300"/>
            <a:ext cx="8046720" cy="671400"/>
          </a:xfrm>
          <a:prstGeom prst="rect">
            <a:avLst/>
          </a:prstGeom>
          <a:noFill/>
          <a:ln>
            <a:noFill/>
          </a:ln>
        </p:spPr>
        <p:txBody>
          <a:bodyPr wrap="square" anchor="ctr">
            <a:noAutofit/>
          </a:bodyPr>
          <a:lstStyle/>
          <a:p>
            <a:pPr>
              <a:spcAft>
                <a:spcPts val="400"/>
              </a:spcAft>
              <a:buNone/>
            </a:pPr>
            <a:r>
              <a:rPr lang="en-US" sz="1200" b="1" dirty="0">
                <a:solidFill>
                  <a:srgbClr val="00C6D7"/>
                </a:solidFill>
                <a:latin typeface="Calibri"/>
              </a:rPr>
              <a:t>Why this data matters</a:t>
            </a:r>
          </a:p>
          <a:p>
            <a:pPr>
              <a:lnSpc>
                <a:spcPct val="105000"/>
              </a:lnSpc>
              <a:spcAft>
                <a:spcPts val="200"/>
              </a:spcAft>
              <a:buNone/>
            </a:pPr>
            <a:r>
              <a:rPr lang="en-US" sz="1200" dirty="0">
                <a:solidFill>
                  <a:srgbClr val="D6E2F0"/>
                </a:solidFill>
                <a:latin typeface="Calibri"/>
              </a:rPr>
              <a:t>It is the full operational record of the support function — the only way to separate genuine agent skill gaps from systemic process bottlenecks</a:t>
            </a:r>
          </a:p>
        </p:txBody>
      </p:sp>
    </p:spTree>
    <p:extLst>
      <p:ext uri="{BB962C8B-B14F-4D97-AF65-F5344CB8AC3E}">
        <p14:creationId xmlns:p14="http://schemas.microsoft.com/office/powerpoint/2010/main" val="3216299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3" name="Text 1"/>
          <p:cNvSpPr/>
          <p:nvPr/>
        </p:nvSpPr>
        <p:spPr>
          <a:xfrm>
            <a:off x="548640" y="274320"/>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Analytical</a:t>
            </a:r>
            <a:r>
              <a:rPr lang="en-US" sz="2600" b="1" dirty="0">
                <a:solidFill>
                  <a:srgbClr val="FFFFFF"/>
                </a:solidFill>
                <a:latin typeface="Calibri" pitchFamily="34" charset="0"/>
                <a:ea typeface="Calibri" pitchFamily="34" charset="-122"/>
                <a:cs typeface="Calibri" pitchFamily="34" charset="-120"/>
              </a:rPr>
              <a:t> Approach &amp; Methodology</a:t>
            </a:r>
            <a:endParaRPr lang="en-US" sz="2600" dirty="0"/>
          </a:p>
        </p:txBody>
      </p:sp>
      <p:sp>
        <p:nvSpPr>
          <p:cNvPr id="4" name="Shape 2"/>
          <p:cNvSpPr/>
          <p:nvPr/>
        </p:nvSpPr>
        <p:spPr>
          <a:xfrm>
            <a:off x="274320" y="960120"/>
            <a:ext cx="4160520" cy="118872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960120"/>
            <a:ext cx="64008" cy="1188720"/>
          </a:xfrm>
          <a:prstGeom prst="rect">
            <a:avLst/>
          </a:prstGeom>
          <a:solidFill>
            <a:srgbClr val="00C6D7"/>
          </a:solidFill>
          <a:ln w="12700">
            <a:solidFill>
              <a:srgbClr val="00C6D7"/>
            </a:solidFill>
            <a:prstDash val="solid"/>
          </a:ln>
        </p:spPr>
        <p:txBody>
          <a:bodyPr/>
          <a:lstStyle/>
          <a:p>
            <a:endParaRPr lang="en-IN"/>
          </a:p>
        </p:txBody>
      </p:sp>
      <p:sp>
        <p:nvSpPr>
          <p:cNvPr id="6" name="Shape 4"/>
          <p:cNvSpPr/>
          <p:nvPr/>
        </p:nvSpPr>
        <p:spPr>
          <a:xfrm>
            <a:off x="438912" y="1097280"/>
            <a:ext cx="411480" cy="411480"/>
          </a:xfrm>
          <a:prstGeom prst="ellipse">
            <a:avLst/>
          </a:prstGeom>
          <a:solidFill>
            <a:srgbClr val="00C6D7"/>
          </a:solidFill>
          <a:ln w="12700">
            <a:solidFill>
              <a:srgbClr val="00C6D7"/>
            </a:solidFill>
            <a:prstDash val="solid"/>
          </a:ln>
        </p:spPr>
        <p:txBody>
          <a:bodyPr/>
          <a:lstStyle/>
          <a:p>
            <a:endParaRPr lang="en-IN"/>
          </a:p>
        </p:txBody>
      </p:sp>
      <p:sp>
        <p:nvSpPr>
          <p:cNvPr id="7" name="Text 5"/>
          <p:cNvSpPr/>
          <p:nvPr/>
        </p:nvSpPr>
        <p:spPr>
          <a:xfrm>
            <a:off x="438912" y="109728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960120" y="1069848"/>
            <a:ext cx="32918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Cleaning</a:t>
            </a:r>
            <a:endParaRPr lang="en-US" sz="1200" dirty="0"/>
          </a:p>
        </p:txBody>
      </p:sp>
      <p:sp>
        <p:nvSpPr>
          <p:cNvPr id="9" name="Text 7"/>
          <p:cNvSpPr/>
          <p:nvPr/>
        </p:nvSpPr>
        <p:spPr>
          <a:xfrm>
            <a:off x="960120" y="1289304"/>
            <a:ext cx="3291840" cy="731520"/>
          </a:xfrm>
          <a:prstGeom prst="rect">
            <a:avLst/>
          </a:prstGeom>
          <a:noFill/>
          <a:ln/>
        </p:spPr>
        <p:txBody>
          <a:bodyPr wrap="square" rtlCol="0" anchor="t"/>
          <a:lstStyle/>
          <a:p>
            <a:pPr marL="0" indent="0">
              <a:buNone/>
            </a:pPr>
            <a:r>
              <a:rPr lang="en-US" sz="1200" dirty="0">
                <a:solidFill>
                  <a:srgbClr val="C8D8E8"/>
                </a:solidFill>
                <a:latin typeface="Calibri" pitchFamily="34" charset="0"/>
                <a:ea typeface="Calibri" pitchFamily="34" charset="-122"/>
                <a:cs typeface="Calibri" pitchFamily="34" charset="-120"/>
              </a:rPr>
              <a:t>Removed duplicates, corrected formatting inconsistencies, standardized categorical values (Severity, Priority), ensured correct data types for dates and numeric fields.</a:t>
            </a:r>
            <a:endParaRPr lang="en-US" sz="1200" dirty="0"/>
          </a:p>
        </p:txBody>
      </p:sp>
      <p:sp>
        <p:nvSpPr>
          <p:cNvPr id="10" name="Shape 8"/>
          <p:cNvSpPr/>
          <p:nvPr/>
        </p:nvSpPr>
        <p:spPr>
          <a:xfrm>
            <a:off x="274320" y="2286000"/>
            <a:ext cx="4160520" cy="118872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274320" y="2286000"/>
            <a:ext cx="64008" cy="1188720"/>
          </a:xfrm>
          <a:prstGeom prst="rect">
            <a:avLst/>
          </a:prstGeom>
          <a:solidFill>
            <a:srgbClr val="F5A623"/>
          </a:solidFill>
          <a:ln w="12700">
            <a:solidFill>
              <a:srgbClr val="F5A623"/>
            </a:solidFill>
            <a:prstDash val="solid"/>
          </a:ln>
        </p:spPr>
        <p:txBody>
          <a:bodyPr/>
          <a:lstStyle/>
          <a:p>
            <a:endParaRPr lang="en-IN"/>
          </a:p>
        </p:txBody>
      </p:sp>
      <p:sp>
        <p:nvSpPr>
          <p:cNvPr id="12" name="Shape 10"/>
          <p:cNvSpPr/>
          <p:nvPr/>
        </p:nvSpPr>
        <p:spPr>
          <a:xfrm>
            <a:off x="438912" y="2423160"/>
            <a:ext cx="411480" cy="411480"/>
          </a:xfrm>
          <a:prstGeom prst="ellipse">
            <a:avLst/>
          </a:prstGeom>
          <a:solidFill>
            <a:srgbClr val="F5A623"/>
          </a:solidFill>
          <a:ln w="12700">
            <a:solidFill>
              <a:srgbClr val="F5A623"/>
            </a:solidFill>
            <a:prstDash val="solid"/>
          </a:ln>
        </p:spPr>
        <p:txBody>
          <a:bodyPr/>
          <a:lstStyle/>
          <a:p>
            <a:endParaRPr lang="en-IN"/>
          </a:p>
        </p:txBody>
      </p:sp>
      <p:sp>
        <p:nvSpPr>
          <p:cNvPr id="13" name="Text 11"/>
          <p:cNvSpPr/>
          <p:nvPr/>
        </p:nvSpPr>
        <p:spPr>
          <a:xfrm>
            <a:off x="438912" y="242316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960120" y="2395728"/>
            <a:ext cx="32918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Enrichment</a:t>
            </a:r>
            <a:endParaRPr lang="en-US" sz="1200" dirty="0"/>
          </a:p>
        </p:txBody>
      </p:sp>
      <p:sp>
        <p:nvSpPr>
          <p:cNvPr id="15" name="Text 13"/>
          <p:cNvSpPr/>
          <p:nvPr/>
        </p:nvSpPr>
        <p:spPr>
          <a:xfrm>
            <a:off x="950976" y="2571750"/>
            <a:ext cx="3291840" cy="731520"/>
          </a:xfrm>
          <a:prstGeom prst="rect">
            <a:avLst/>
          </a:prstGeom>
          <a:noFill/>
          <a:ln/>
        </p:spPr>
        <p:txBody>
          <a:bodyPr wrap="square" rtlCol="0" anchor="t"/>
          <a:lstStyle/>
          <a:p>
            <a:pPr marL="0" indent="0">
              <a:buNone/>
            </a:pPr>
            <a:r>
              <a:rPr lang="en-US" sz="1200" dirty="0">
                <a:solidFill>
                  <a:srgbClr val="C8D8E8"/>
                </a:solidFill>
                <a:latin typeface="Calibri" pitchFamily="34" charset="0"/>
                <a:ea typeface="Calibri" pitchFamily="34" charset="-122"/>
                <a:cs typeface="Calibri" pitchFamily="34" charset="-120"/>
              </a:rPr>
              <a:t>Linked ticket data with IT Agents sheet using VLOOKUP on Agent ID to retrieve full names, ages, and demographic details for agent-level analysis.</a:t>
            </a:r>
            <a:endParaRPr lang="en-US" sz="1200" dirty="0"/>
          </a:p>
        </p:txBody>
      </p:sp>
      <p:sp>
        <p:nvSpPr>
          <p:cNvPr id="16" name="Shape 14"/>
          <p:cNvSpPr/>
          <p:nvPr/>
        </p:nvSpPr>
        <p:spPr>
          <a:xfrm>
            <a:off x="274320" y="3611880"/>
            <a:ext cx="4160520" cy="118872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274320" y="3611880"/>
            <a:ext cx="64008" cy="1188720"/>
          </a:xfrm>
          <a:prstGeom prst="rect">
            <a:avLst/>
          </a:prstGeom>
          <a:solidFill>
            <a:srgbClr val="2ECC71"/>
          </a:solidFill>
          <a:ln w="12700">
            <a:solidFill>
              <a:srgbClr val="2ECC71"/>
            </a:solidFill>
            <a:prstDash val="solid"/>
          </a:ln>
        </p:spPr>
        <p:txBody>
          <a:bodyPr/>
          <a:lstStyle/>
          <a:p>
            <a:endParaRPr lang="en-IN"/>
          </a:p>
        </p:txBody>
      </p:sp>
      <p:sp>
        <p:nvSpPr>
          <p:cNvPr id="18" name="Shape 16"/>
          <p:cNvSpPr/>
          <p:nvPr/>
        </p:nvSpPr>
        <p:spPr>
          <a:xfrm>
            <a:off x="438912" y="3749040"/>
            <a:ext cx="411480" cy="411480"/>
          </a:xfrm>
          <a:prstGeom prst="ellipse">
            <a:avLst/>
          </a:prstGeom>
          <a:solidFill>
            <a:srgbClr val="2ECC71"/>
          </a:solidFill>
          <a:ln w="12700">
            <a:solidFill>
              <a:srgbClr val="2ECC71"/>
            </a:solidFill>
            <a:prstDash val="solid"/>
          </a:ln>
        </p:spPr>
        <p:txBody>
          <a:bodyPr/>
          <a:lstStyle/>
          <a:p>
            <a:endParaRPr lang="en-IN"/>
          </a:p>
        </p:txBody>
      </p:sp>
      <p:sp>
        <p:nvSpPr>
          <p:cNvPr id="19" name="Text 17"/>
          <p:cNvSpPr/>
          <p:nvPr/>
        </p:nvSpPr>
        <p:spPr>
          <a:xfrm>
            <a:off x="438912" y="374904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960120" y="3721608"/>
            <a:ext cx="32918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Descriptive Analysis</a:t>
            </a:r>
            <a:endParaRPr lang="en-US" sz="1200" dirty="0"/>
          </a:p>
        </p:txBody>
      </p:sp>
      <p:sp>
        <p:nvSpPr>
          <p:cNvPr id="21" name="Text 19"/>
          <p:cNvSpPr/>
          <p:nvPr/>
        </p:nvSpPr>
        <p:spPr>
          <a:xfrm>
            <a:off x="960120" y="3942044"/>
            <a:ext cx="3291840" cy="731520"/>
          </a:xfrm>
          <a:prstGeom prst="rect">
            <a:avLst/>
          </a:prstGeom>
          <a:noFill/>
          <a:ln/>
        </p:spPr>
        <p:txBody>
          <a:bodyPr wrap="square" rtlCol="0" anchor="t"/>
          <a:lstStyle/>
          <a:p>
            <a:pPr marL="0" indent="0">
              <a:buNone/>
            </a:pPr>
            <a:r>
              <a:rPr lang="en-US" sz="1200" dirty="0">
                <a:solidFill>
                  <a:srgbClr val="C8D8E8"/>
                </a:solidFill>
                <a:latin typeface="Calibri" pitchFamily="34" charset="0"/>
                <a:ea typeface="Calibri" pitchFamily="34" charset="-122"/>
                <a:cs typeface="Calibri" pitchFamily="34" charset="-120"/>
              </a:rPr>
              <a:t>Evaluated ticket volumes, resolution times, satisfaction levels, and agent performance using pivot tables, COUNTIF, SUMIF, AVERAGE, and CORREL functions.</a:t>
            </a:r>
            <a:endParaRPr lang="en-US" sz="1200" dirty="0"/>
          </a:p>
        </p:txBody>
      </p:sp>
      <p:sp>
        <p:nvSpPr>
          <p:cNvPr id="22" name="Shape 20"/>
          <p:cNvSpPr/>
          <p:nvPr/>
        </p:nvSpPr>
        <p:spPr>
          <a:xfrm>
            <a:off x="4709160" y="960120"/>
            <a:ext cx="4160520" cy="118872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4709160" y="960120"/>
            <a:ext cx="64008" cy="1188720"/>
          </a:xfrm>
          <a:prstGeom prst="rect">
            <a:avLst/>
          </a:prstGeom>
          <a:solidFill>
            <a:srgbClr val="E74C3C"/>
          </a:solidFill>
          <a:ln w="12700">
            <a:solidFill>
              <a:srgbClr val="E74C3C"/>
            </a:solidFill>
            <a:prstDash val="solid"/>
          </a:ln>
        </p:spPr>
        <p:txBody>
          <a:bodyPr/>
          <a:lstStyle/>
          <a:p>
            <a:endParaRPr lang="en-IN"/>
          </a:p>
        </p:txBody>
      </p:sp>
      <p:sp>
        <p:nvSpPr>
          <p:cNvPr id="24" name="Shape 22"/>
          <p:cNvSpPr/>
          <p:nvPr/>
        </p:nvSpPr>
        <p:spPr>
          <a:xfrm>
            <a:off x="4873752" y="1097280"/>
            <a:ext cx="411480" cy="411480"/>
          </a:xfrm>
          <a:prstGeom prst="ellipse">
            <a:avLst/>
          </a:prstGeom>
          <a:solidFill>
            <a:srgbClr val="E74C3C"/>
          </a:solidFill>
          <a:ln w="12700">
            <a:solidFill>
              <a:srgbClr val="E74C3C"/>
            </a:solidFill>
            <a:prstDash val="solid"/>
          </a:ln>
        </p:spPr>
        <p:txBody>
          <a:bodyPr/>
          <a:lstStyle/>
          <a:p>
            <a:endParaRPr lang="en-IN"/>
          </a:p>
        </p:txBody>
      </p:sp>
      <p:sp>
        <p:nvSpPr>
          <p:cNvPr id="25" name="Text 23"/>
          <p:cNvSpPr/>
          <p:nvPr/>
        </p:nvSpPr>
        <p:spPr>
          <a:xfrm>
            <a:off x="4873752" y="109728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5394960" y="1069848"/>
            <a:ext cx="32918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Trend &amp; Correlation Analysis</a:t>
            </a:r>
            <a:endParaRPr lang="en-US" sz="1200" dirty="0"/>
          </a:p>
        </p:txBody>
      </p:sp>
      <p:sp>
        <p:nvSpPr>
          <p:cNvPr id="27" name="Text 25"/>
          <p:cNvSpPr/>
          <p:nvPr/>
        </p:nvSpPr>
        <p:spPr>
          <a:xfrm>
            <a:off x="5413248" y="1289304"/>
            <a:ext cx="3291840" cy="731520"/>
          </a:xfrm>
          <a:prstGeom prst="rect">
            <a:avLst/>
          </a:prstGeom>
          <a:noFill/>
          <a:ln/>
        </p:spPr>
        <p:txBody>
          <a:bodyPr wrap="square" rtlCol="0" anchor="t"/>
          <a:lstStyle/>
          <a:p>
            <a:pPr marL="0" indent="0">
              <a:buNone/>
            </a:pPr>
            <a:r>
              <a:rPr lang="en-US" sz="1200" dirty="0">
                <a:solidFill>
                  <a:srgbClr val="C8D8E8"/>
                </a:solidFill>
                <a:latin typeface="Calibri" pitchFamily="34" charset="0"/>
                <a:ea typeface="Calibri" pitchFamily="34" charset="-122"/>
                <a:cs typeface="Calibri" pitchFamily="34" charset="-120"/>
              </a:rPr>
              <a:t>Analyzed temporal trends by year/quarter, age group vs satisfaction patterns, and severity vs resolution time correlation (r = -0.04).</a:t>
            </a:r>
            <a:endParaRPr lang="en-US" sz="1200" dirty="0"/>
          </a:p>
        </p:txBody>
      </p:sp>
      <p:sp>
        <p:nvSpPr>
          <p:cNvPr id="28" name="Shape 26"/>
          <p:cNvSpPr/>
          <p:nvPr/>
        </p:nvSpPr>
        <p:spPr>
          <a:xfrm>
            <a:off x="4709160" y="2286000"/>
            <a:ext cx="4160520" cy="118872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4709160" y="2286000"/>
            <a:ext cx="64008" cy="1188720"/>
          </a:xfrm>
          <a:prstGeom prst="rect">
            <a:avLst/>
          </a:prstGeom>
          <a:solidFill>
            <a:srgbClr val="9B59B6"/>
          </a:solidFill>
          <a:ln w="12700">
            <a:solidFill>
              <a:srgbClr val="9B59B6"/>
            </a:solidFill>
            <a:prstDash val="solid"/>
          </a:ln>
        </p:spPr>
        <p:txBody>
          <a:bodyPr/>
          <a:lstStyle/>
          <a:p>
            <a:endParaRPr lang="en-IN"/>
          </a:p>
        </p:txBody>
      </p:sp>
      <p:sp>
        <p:nvSpPr>
          <p:cNvPr id="30" name="Shape 28"/>
          <p:cNvSpPr/>
          <p:nvPr/>
        </p:nvSpPr>
        <p:spPr>
          <a:xfrm>
            <a:off x="4873752" y="2423160"/>
            <a:ext cx="411480" cy="411480"/>
          </a:xfrm>
          <a:prstGeom prst="ellipse">
            <a:avLst/>
          </a:prstGeom>
          <a:solidFill>
            <a:srgbClr val="9B59B6"/>
          </a:solidFill>
          <a:ln w="12700">
            <a:solidFill>
              <a:srgbClr val="9B59B6"/>
            </a:solidFill>
            <a:prstDash val="solid"/>
          </a:ln>
        </p:spPr>
        <p:txBody>
          <a:bodyPr/>
          <a:lstStyle/>
          <a:p>
            <a:endParaRPr lang="en-IN"/>
          </a:p>
        </p:txBody>
      </p:sp>
      <p:sp>
        <p:nvSpPr>
          <p:cNvPr id="31" name="Text 29"/>
          <p:cNvSpPr/>
          <p:nvPr/>
        </p:nvSpPr>
        <p:spPr>
          <a:xfrm>
            <a:off x="4873752" y="242316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05</a:t>
            </a:r>
            <a:endParaRPr lang="en-US" sz="1100" dirty="0"/>
          </a:p>
        </p:txBody>
      </p:sp>
      <p:sp>
        <p:nvSpPr>
          <p:cNvPr id="32" name="Text 30"/>
          <p:cNvSpPr/>
          <p:nvPr/>
        </p:nvSpPr>
        <p:spPr>
          <a:xfrm>
            <a:off x="5394960" y="2395728"/>
            <a:ext cx="32918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Visualization &amp; Dashboard</a:t>
            </a:r>
            <a:endParaRPr lang="en-US" sz="1200" dirty="0"/>
          </a:p>
        </p:txBody>
      </p:sp>
      <p:sp>
        <p:nvSpPr>
          <p:cNvPr id="33" name="Text 31"/>
          <p:cNvSpPr/>
          <p:nvPr/>
        </p:nvSpPr>
        <p:spPr>
          <a:xfrm>
            <a:off x="5394960" y="2580241"/>
            <a:ext cx="3291840" cy="731520"/>
          </a:xfrm>
          <a:prstGeom prst="rect">
            <a:avLst/>
          </a:prstGeom>
          <a:noFill/>
          <a:ln/>
        </p:spPr>
        <p:txBody>
          <a:bodyPr wrap="square" rtlCol="0" anchor="t"/>
          <a:lstStyle/>
          <a:p>
            <a:pPr marL="0" indent="0">
              <a:buNone/>
            </a:pPr>
            <a:r>
              <a:rPr lang="en-US" sz="1200" dirty="0">
                <a:solidFill>
                  <a:srgbClr val="C8D8E8"/>
                </a:solidFill>
                <a:latin typeface="Calibri" pitchFamily="34" charset="0"/>
                <a:ea typeface="Calibri" pitchFamily="34" charset="-122"/>
                <a:cs typeface="Calibri" pitchFamily="34" charset="-120"/>
              </a:rPr>
              <a:t>Created Dashboard covering all 13 Pivot Charts with interactive slicers for Year, Priority, Severity, Issue Type, and Request Category.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3B8E0-4C18-58F8-7DD6-D3B06E715A47}"/>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853BEA79-C86E-4A25-FEF9-8CFA0E526399}"/>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60106FBF-1035-A0D8-44CB-30156FBDC7B6}"/>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7E1853D8-0B15-E41D-F01B-B9D43A84F3EC}"/>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Key Performance Indicators</a:t>
            </a:r>
            <a:endParaRPr lang="en-US" sz="2800" dirty="0"/>
          </a:p>
        </p:txBody>
      </p:sp>
      <p:grpSp>
        <p:nvGrpSpPr>
          <p:cNvPr id="106" name="Group 105">
            <a:extLst>
              <a:ext uri="{FF2B5EF4-FFF2-40B4-BE49-F238E27FC236}">
                <a16:creationId xmlns:a16="http://schemas.microsoft.com/office/drawing/2014/main" id="{37932F6A-CA60-DDEC-6CB8-929250EB9B43}"/>
              </a:ext>
            </a:extLst>
          </p:cNvPr>
          <p:cNvGrpSpPr/>
          <p:nvPr/>
        </p:nvGrpSpPr>
        <p:grpSpPr>
          <a:xfrm>
            <a:off x="2651760" y="1017270"/>
            <a:ext cx="3977640" cy="3108960"/>
            <a:chOff x="4937760" y="1069848"/>
            <a:chExt cx="3977640" cy="3108960"/>
          </a:xfrm>
        </p:grpSpPr>
        <p:sp>
          <p:nvSpPr>
            <p:cNvPr id="8" name="Shape 9">
              <a:extLst>
                <a:ext uri="{FF2B5EF4-FFF2-40B4-BE49-F238E27FC236}">
                  <a16:creationId xmlns:a16="http://schemas.microsoft.com/office/drawing/2014/main" id="{B67CA5C6-9332-20F1-49B0-F519EACBB115}"/>
                </a:ext>
              </a:extLst>
            </p:cNvPr>
            <p:cNvSpPr/>
            <p:nvPr/>
          </p:nvSpPr>
          <p:spPr>
            <a:xfrm>
              <a:off x="4937760" y="106984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10">
              <a:extLst>
                <a:ext uri="{FF2B5EF4-FFF2-40B4-BE49-F238E27FC236}">
                  <a16:creationId xmlns:a16="http://schemas.microsoft.com/office/drawing/2014/main" id="{0ECCC394-E6CE-159A-2134-853EFFCD2443}"/>
                </a:ext>
              </a:extLst>
            </p:cNvPr>
            <p:cNvSpPr/>
            <p:nvPr/>
          </p:nvSpPr>
          <p:spPr>
            <a:xfrm>
              <a:off x="4945380" y="1069848"/>
              <a:ext cx="1920240" cy="54864"/>
            </a:xfrm>
            <a:prstGeom prst="rect">
              <a:avLst/>
            </a:prstGeom>
            <a:solidFill>
              <a:srgbClr val="00C6D7"/>
            </a:solidFill>
            <a:ln w="12700">
              <a:solidFill>
                <a:srgbClr val="00C6D7"/>
              </a:solidFill>
              <a:prstDash val="solid"/>
            </a:ln>
          </p:spPr>
          <p:txBody>
            <a:bodyPr/>
            <a:lstStyle/>
            <a:p>
              <a:endParaRPr lang="en-IN"/>
            </a:p>
          </p:txBody>
        </p:sp>
        <p:sp>
          <p:nvSpPr>
            <p:cNvPr id="36" name="Text 11">
              <a:extLst>
                <a:ext uri="{FF2B5EF4-FFF2-40B4-BE49-F238E27FC236}">
                  <a16:creationId xmlns:a16="http://schemas.microsoft.com/office/drawing/2014/main" id="{0260CA5C-32DF-C7D9-D5CD-17E11188967A}"/>
                </a:ext>
              </a:extLst>
            </p:cNvPr>
            <p:cNvSpPr/>
            <p:nvPr/>
          </p:nvSpPr>
          <p:spPr>
            <a:xfrm>
              <a:off x="4937760" y="116128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97,498</a:t>
              </a:r>
              <a:endParaRPr lang="en-US" sz="2800" dirty="0"/>
            </a:p>
          </p:txBody>
        </p:sp>
        <p:sp>
          <p:nvSpPr>
            <p:cNvPr id="38" name="Text 12">
              <a:extLst>
                <a:ext uri="{FF2B5EF4-FFF2-40B4-BE49-F238E27FC236}">
                  <a16:creationId xmlns:a16="http://schemas.microsoft.com/office/drawing/2014/main" id="{EA7E0C3A-BBE6-7660-5BFB-D052ADFA0951}"/>
                </a:ext>
              </a:extLst>
            </p:cNvPr>
            <p:cNvSpPr/>
            <p:nvPr/>
          </p:nvSpPr>
          <p:spPr>
            <a:xfrm>
              <a:off x="4937760" y="161848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Total Tickets Analyzed</a:t>
              </a:r>
              <a:endParaRPr lang="en-US" sz="1200" dirty="0"/>
            </a:p>
          </p:txBody>
        </p:sp>
        <p:sp>
          <p:nvSpPr>
            <p:cNvPr id="40" name="Shape 13">
              <a:extLst>
                <a:ext uri="{FF2B5EF4-FFF2-40B4-BE49-F238E27FC236}">
                  <a16:creationId xmlns:a16="http://schemas.microsoft.com/office/drawing/2014/main" id="{6E388BBC-A5D5-4DAE-15AB-C5F3AED1069F}"/>
                </a:ext>
              </a:extLst>
            </p:cNvPr>
            <p:cNvSpPr/>
            <p:nvPr/>
          </p:nvSpPr>
          <p:spPr>
            <a:xfrm>
              <a:off x="6995160" y="106984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42" name="Shape 14">
              <a:extLst>
                <a:ext uri="{FF2B5EF4-FFF2-40B4-BE49-F238E27FC236}">
                  <a16:creationId xmlns:a16="http://schemas.microsoft.com/office/drawing/2014/main" id="{191E6D6B-0064-E313-B4D9-F03F9A91BA15}"/>
                </a:ext>
              </a:extLst>
            </p:cNvPr>
            <p:cNvSpPr/>
            <p:nvPr/>
          </p:nvSpPr>
          <p:spPr>
            <a:xfrm>
              <a:off x="6995160" y="1069848"/>
              <a:ext cx="1920240" cy="54864"/>
            </a:xfrm>
            <a:prstGeom prst="rect">
              <a:avLst/>
            </a:prstGeom>
            <a:solidFill>
              <a:srgbClr val="00C6D7"/>
            </a:solidFill>
            <a:ln w="12700">
              <a:solidFill>
                <a:srgbClr val="00C6D7"/>
              </a:solidFill>
              <a:prstDash val="solid"/>
            </a:ln>
          </p:spPr>
          <p:txBody>
            <a:bodyPr/>
            <a:lstStyle/>
            <a:p>
              <a:endParaRPr lang="en-IN"/>
            </a:p>
          </p:txBody>
        </p:sp>
        <p:sp>
          <p:nvSpPr>
            <p:cNvPr id="44" name="Text 15">
              <a:extLst>
                <a:ext uri="{FF2B5EF4-FFF2-40B4-BE49-F238E27FC236}">
                  <a16:creationId xmlns:a16="http://schemas.microsoft.com/office/drawing/2014/main" id="{4E5A9AFE-09F0-B3F3-F980-7830F1D1EC3C}"/>
                </a:ext>
              </a:extLst>
            </p:cNvPr>
            <p:cNvSpPr/>
            <p:nvPr/>
          </p:nvSpPr>
          <p:spPr>
            <a:xfrm>
              <a:off x="6995160" y="116128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50</a:t>
              </a:r>
              <a:endParaRPr lang="en-US" sz="2800" dirty="0"/>
            </a:p>
          </p:txBody>
        </p:sp>
        <p:sp>
          <p:nvSpPr>
            <p:cNvPr id="46" name="Text 16">
              <a:extLst>
                <a:ext uri="{FF2B5EF4-FFF2-40B4-BE49-F238E27FC236}">
                  <a16:creationId xmlns:a16="http://schemas.microsoft.com/office/drawing/2014/main" id="{91C4D93D-02C5-E85C-5B56-CF8EDE0BE61A}"/>
                </a:ext>
              </a:extLst>
            </p:cNvPr>
            <p:cNvSpPr/>
            <p:nvPr/>
          </p:nvSpPr>
          <p:spPr>
            <a:xfrm>
              <a:off x="6995160" y="161848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IT Agents</a:t>
              </a:r>
              <a:endParaRPr lang="en-US" sz="1200" dirty="0"/>
            </a:p>
          </p:txBody>
        </p:sp>
        <p:sp>
          <p:nvSpPr>
            <p:cNvPr id="48" name="Shape 17">
              <a:extLst>
                <a:ext uri="{FF2B5EF4-FFF2-40B4-BE49-F238E27FC236}">
                  <a16:creationId xmlns:a16="http://schemas.microsoft.com/office/drawing/2014/main" id="{C6DF6236-9204-C39F-82AC-1D80A2C3C611}"/>
                </a:ext>
              </a:extLst>
            </p:cNvPr>
            <p:cNvSpPr/>
            <p:nvPr/>
          </p:nvSpPr>
          <p:spPr>
            <a:xfrm>
              <a:off x="4937760" y="216712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50" name="Shape 18">
              <a:extLst>
                <a:ext uri="{FF2B5EF4-FFF2-40B4-BE49-F238E27FC236}">
                  <a16:creationId xmlns:a16="http://schemas.microsoft.com/office/drawing/2014/main" id="{86E2D27A-D789-A835-AD55-3B94F4F6A03B}"/>
                </a:ext>
              </a:extLst>
            </p:cNvPr>
            <p:cNvSpPr/>
            <p:nvPr/>
          </p:nvSpPr>
          <p:spPr>
            <a:xfrm>
              <a:off x="4937760" y="2167128"/>
              <a:ext cx="1920240" cy="54864"/>
            </a:xfrm>
            <a:prstGeom prst="rect">
              <a:avLst/>
            </a:prstGeom>
            <a:solidFill>
              <a:srgbClr val="00C6D7"/>
            </a:solidFill>
            <a:ln w="12700">
              <a:solidFill>
                <a:srgbClr val="00C6D7"/>
              </a:solidFill>
              <a:prstDash val="solid"/>
            </a:ln>
          </p:spPr>
          <p:txBody>
            <a:bodyPr/>
            <a:lstStyle/>
            <a:p>
              <a:endParaRPr lang="en-IN"/>
            </a:p>
          </p:txBody>
        </p:sp>
        <p:sp>
          <p:nvSpPr>
            <p:cNvPr id="52" name="Text 19">
              <a:extLst>
                <a:ext uri="{FF2B5EF4-FFF2-40B4-BE49-F238E27FC236}">
                  <a16:creationId xmlns:a16="http://schemas.microsoft.com/office/drawing/2014/main" id="{FE22E873-3869-54C9-51AB-26B49282D42D}"/>
                </a:ext>
              </a:extLst>
            </p:cNvPr>
            <p:cNvSpPr/>
            <p:nvPr/>
          </p:nvSpPr>
          <p:spPr>
            <a:xfrm>
              <a:off x="4937760" y="225856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4.10</a:t>
              </a:r>
              <a:endParaRPr lang="en-US" sz="2800" dirty="0"/>
            </a:p>
          </p:txBody>
        </p:sp>
        <p:sp>
          <p:nvSpPr>
            <p:cNvPr id="54" name="Text 20">
              <a:extLst>
                <a:ext uri="{FF2B5EF4-FFF2-40B4-BE49-F238E27FC236}">
                  <a16:creationId xmlns:a16="http://schemas.microsoft.com/office/drawing/2014/main" id="{67EA5CFF-D3B9-C899-2A56-B6D1CE12C00D}"/>
                </a:ext>
              </a:extLst>
            </p:cNvPr>
            <p:cNvSpPr/>
            <p:nvPr/>
          </p:nvSpPr>
          <p:spPr>
            <a:xfrm>
              <a:off x="4937760" y="271576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Avg Satisfaction Rate</a:t>
              </a:r>
              <a:endParaRPr lang="en-US" sz="1200" dirty="0"/>
            </a:p>
          </p:txBody>
        </p:sp>
        <p:sp>
          <p:nvSpPr>
            <p:cNvPr id="56" name="Shape 21">
              <a:extLst>
                <a:ext uri="{FF2B5EF4-FFF2-40B4-BE49-F238E27FC236}">
                  <a16:creationId xmlns:a16="http://schemas.microsoft.com/office/drawing/2014/main" id="{6BE996C6-AEEF-059F-9B10-F4A42AC346D1}"/>
                </a:ext>
              </a:extLst>
            </p:cNvPr>
            <p:cNvSpPr/>
            <p:nvPr/>
          </p:nvSpPr>
          <p:spPr>
            <a:xfrm>
              <a:off x="6995160" y="216712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58" name="Shape 22">
              <a:extLst>
                <a:ext uri="{FF2B5EF4-FFF2-40B4-BE49-F238E27FC236}">
                  <a16:creationId xmlns:a16="http://schemas.microsoft.com/office/drawing/2014/main" id="{7AA000A9-88F3-66B0-20E7-23CBF0E420DD}"/>
                </a:ext>
              </a:extLst>
            </p:cNvPr>
            <p:cNvSpPr/>
            <p:nvPr/>
          </p:nvSpPr>
          <p:spPr>
            <a:xfrm>
              <a:off x="6995160" y="2167128"/>
              <a:ext cx="1920240" cy="54864"/>
            </a:xfrm>
            <a:prstGeom prst="rect">
              <a:avLst/>
            </a:prstGeom>
            <a:solidFill>
              <a:srgbClr val="00C6D7"/>
            </a:solidFill>
            <a:ln w="12700">
              <a:solidFill>
                <a:srgbClr val="00C6D7"/>
              </a:solidFill>
              <a:prstDash val="solid"/>
            </a:ln>
          </p:spPr>
          <p:txBody>
            <a:bodyPr/>
            <a:lstStyle/>
            <a:p>
              <a:endParaRPr lang="en-IN"/>
            </a:p>
          </p:txBody>
        </p:sp>
        <p:sp>
          <p:nvSpPr>
            <p:cNvPr id="61" name="Text 23">
              <a:extLst>
                <a:ext uri="{FF2B5EF4-FFF2-40B4-BE49-F238E27FC236}">
                  <a16:creationId xmlns:a16="http://schemas.microsoft.com/office/drawing/2014/main" id="{BCAE1788-0055-EB26-CB95-0031423567EE}"/>
                </a:ext>
              </a:extLst>
            </p:cNvPr>
            <p:cNvSpPr/>
            <p:nvPr/>
          </p:nvSpPr>
          <p:spPr>
            <a:xfrm>
              <a:off x="6995160" y="225856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4.55</a:t>
              </a:r>
              <a:endParaRPr lang="en-US" sz="2800" dirty="0"/>
            </a:p>
          </p:txBody>
        </p:sp>
        <p:sp>
          <p:nvSpPr>
            <p:cNvPr id="63" name="Text 24">
              <a:extLst>
                <a:ext uri="{FF2B5EF4-FFF2-40B4-BE49-F238E27FC236}">
                  <a16:creationId xmlns:a16="http://schemas.microsoft.com/office/drawing/2014/main" id="{6EEDE719-4F51-5D76-E30C-BDE504D597B0}"/>
                </a:ext>
              </a:extLst>
            </p:cNvPr>
            <p:cNvSpPr/>
            <p:nvPr/>
          </p:nvSpPr>
          <p:spPr>
            <a:xfrm>
              <a:off x="6995160" y="271576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Avg Resolution Days</a:t>
              </a:r>
              <a:endParaRPr lang="en-US" sz="1200" dirty="0"/>
            </a:p>
          </p:txBody>
        </p:sp>
        <p:sp>
          <p:nvSpPr>
            <p:cNvPr id="65" name="Shape 25">
              <a:extLst>
                <a:ext uri="{FF2B5EF4-FFF2-40B4-BE49-F238E27FC236}">
                  <a16:creationId xmlns:a16="http://schemas.microsoft.com/office/drawing/2014/main" id="{25609CB1-28A4-6DB3-A046-52D668F3834A}"/>
                </a:ext>
              </a:extLst>
            </p:cNvPr>
            <p:cNvSpPr/>
            <p:nvPr/>
          </p:nvSpPr>
          <p:spPr>
            <a:xfrm>
              <a:off x="4937760" y="326440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67" name="Shape 26">
              <a:extLst>
                <a:ext uri="{FF2B5EF4-FFF2-40B4-BE49-F238E27FC236}">
                  <a16:creationId xmlns:a16="http://schemas.microsoft.com/office/drawing/2014/main" id="{E014BFB1-4878-6679-87E5-210DC9FF1A4B}"/>
                </a:ext>
              </a:extLst>
            </p:cNvPr>
            <p:cNvSpPr/>
            <p:nvPr/>
          </p:nvSpPr>
          <p:spPr>
            <a:xfrm>
              <a:off x="4937760" y="3264408"/>
              <a:ext cx="1920240" cy="54864"/>
            </a:xfrm>
            <a:prstGeom prst="rect">
              <a:avLst/>
            </a:prstGeom>
            <a:solidFill>
              <a:srgbClr val="00C6D7"/>
            </a:solidFill>
            <a:ln w="12700">
              <a:solidFill>
                <a:srgbClr val="00C6D7"/>
              </a:solidFill>
              <a:prstDash val="solid"/>
            </a:ln>
          </p:spPr>
          <p:txBody>
            <a:bodyPr/>
            <a:lstStyle/>
            <a:p>
              <a:endParaRPr lang="en-IN"/>
            </a:p>
          </p:txBody>
        </p:sp>
        <p:sp>
          <p:nvSpPr>
            <p:cNvPr id="69" name="Text 27">
              <a:extLst>
                <a:ext uri="{FF2B5EF4-FFF2-40B4-BE49-F238E27FC236}">
                  <a16:creationId xmlns:a16="http://schemas.microsoft.com/office/drawing/2014/main" id="{350CEFEB-7849-CC17-8F8B-BB56554B6E40}"/>
                </a:ext>
              </a:extLst>
            </p:cNvPr>
            <p:cNvSpPr/>
            <p:nvPr/>
          </p:nvSpPr>
          <p:spPr>
            <a:xfrm>
              <a:off x="4937760" y="335584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2016–20</a:t>
              </a:r>
              <a:endParaRPr lang="en-US" sz="2800" dirty="0"/>
            </a:p>
          </p:txBody>
        </p:sp>
        <p:sp>
          <p:nvSpPr>
            <p:cNvPr id="71" name="Text 28">
              <a:extLst>
                <a:ext uri="{FF2B5EF4-FFF2-40B4-BE49-F238E27FC236}">
                  <a16:creationId xmlns:a16="http://schemas.microsoft.com/office/drawing/2014/main" id="{FE419C2D-AEF6-249B-FBE7-20CB4FD02329}"/>
                </a:ext>
              </a:extLst>
            </p:cNvPr>
            <p:cNvSpPr/>
            <p:nvPr/>
          </p:nvSpPr>
          <p:spPr>
            <a:xfrm>
              <a:off x="4937760" y="381304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Data Time Span</a:t>
              </a:r>
              <a:endParaRPr lang="en-US" sz="1200" dirty="0"/>
            </a:p>
          </p:txBody>
        </p:sp>
        <p:sp>
          <p:nvSpPr>
            <p:cNvPr id="73" name="Shape 29">
              <a:extLst>
                <a:ext uri="{FF2B5EF4-FFF2-40B4-BE49-F238E27FC236}">
                  <a16:creationId xmlns:a16="http://schemas.microsoft.com/office/drawing/2014/main" id="{D41FCC5A-2BB5-47F9-522C-B9333D85A971}"/>
                </a:ext>
              </a:extLst>
            </p:cNvPr>
            <p:cNvSpPr/>
            <p:nvPr/>
          </p:nvSpPr>
          <p:spPr>
            <a:xfrm>
              <a:off x="6995160" y="3264408"/>
              <a:ext cx="1920240" cy="91440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75" name="Shape 30">
              <a:extLst>
                <a:ext uri="{FF2B5EF4-FFF2-40B4-BE49-F238E27FC236}">
                  <a16:creationId xmlns:a16="http://schemas.microsoft.com/office/drawing/2014/main" id="{DE207A03-9CE8-18FE-8C7F-51983BAC0422}"/>
                </a:ext>
              </a:extLst>
            </p:cNvPr>
            <p:cNvSpPr/>
            <p:nvPr/>
          </p:nvSpPr>
          <p:spPr>
            <a:xfrm>
              <a:off x="6995160" y="3264408"/>
              <a:ext cx="1920240" cy="54864"/>
            </a:xfrm>
            <a:prstGeom prst="rect">
              <a:avLst/>
            </a:prstGeom>
            <a:solidFill>
              <a:srgbClr val="00C6D7"/>
            </a:solidFill>
            <a:ln w="12700">
              <a:solidFill>
                <a:srgbClr val="00C6D7"/>
              </a:solidFill>
              <a:prstDash val="solid"/>
            </a:ln>
          </p:spPr>
          <p:txBody>
            <a:bodyPr/>
            <a:lstStyle/>
            <a:p>
              <a:endParaRPr lang="en-IN"/>
            </a:p>
          </p:txBody>
        </p:sp>
        <p:sp>
          <p:nvSpPr>
            <p:cNvPr id="77" name="Text 31">
              <a:extLst>
                <a:ext uri="{FF2B5EF4-FFF2-40B4-BE49-F238E27FC236}">
                  <a16:creationId xmlns:a16="http://schemas.microsoft.com/office/drawing/2014/main" id="{D8AE86D7-6BF9-8A43-E0AB-9C34ADA38380}"/>
                </a:ext>
              </a:extLst>
            </p:cNvPr>
            <p:cNvSpPr/>
            <p:nvPr/>
          </p:nvSpPr>
          <p:spPr>
            <a:xfrm>
              <a:off x="6995160" y="3355848"/>
              <a:ext cx="1920240" cy="475488"/>
            </a:xfrm>
            <a:prstGeom prst="rect">
              <a:avLst/>
            </a:prstGeom>
            <a:noFill/>
            <a:ln/>
          </p:spPr>
          <p:txBody>
            <a:bodyPr wrap="square" rtlCol="0" anchor="ctr"/>
            <a:lstStyle/>
            <a:p>
              <a:pPr marL="0" indent="0" algn="ctr">
                <a:buNone/>
              </a:pPr>
              <a:r>
                <a:rPr lang="en-US" sz="2800" b="1" dirty="0">
                  <a:solidFill>
                    <a:srgbClr val="00C6D7"/>
                  </a:solidFill>
                  <a:latin typeface="Calibri" pitchFamily="34" charset="0"/>
                  <a:ea typeface="Calibri" pitchFamily="34" charset="-122"/>
                  <a:cs typeface="Calibri" pitchFamily="34" charset="-120"/>
                </a:rPr>
                <a:t>41.1</a:t>
              </a:r>
              <a:endParaRPr lang="en-US" sz="2800" dirty="0"/>
            </a:p>
          </p:txBody>
        </p:sp>
        <p:sp>
          <p:nvSpPr>
            <p:cNvPr id="79" name="Text 32">
              <a:extLst>
                <a:ext uri="{FF2B5EF4-FFF2-40B4-BE49-F238E27FC236}">
                  <a16:creationId xmlns:a16="http://schemas.microsoft.com/office/drawing/2014/main" id="{33773266-F905-C68C-DFD9-D03E63EE233F}"/>
                </a:ext>
              </a:extLst>
            </p:cNvPr>
            <p:cNvSpPr/>
            <p:nvPr/>
          </p:nvSpPr>
          <p:spPr>
            <a:xfrm>
              <a:off x="6995160" y="3813048"/>
              <a:ext cx="1920240" cy="320040"/>
            </a:xfrm>
            <a:prstGeom prst="rect">
              <a:avLst/>
            </a:prstGeom>
            <a:noFill/>
            <a:ln/>
          </p:spPr>
          <p:txBody>
            <a:bodyPr wrap="square" rtlCol="0" anchor="t"/>
            <a:lstStyle/>
            <a:p>
              <a:pPr marL="0" indent="0" algn="ctr">
                <a:buNone/>
              </a:pPr>
              <a:r>
                <a:rPr lang="en-US" sz="1200" dirty="0">
                  <a:solidFill>
                    <a:srgbClr val="C8D8E8"/>
                  </a:solidFill>
                  <a:latin typeface="Calibri" pitchFamily="34" charset="0"/>
                  <a:ea typeface="Calibri" pitchFamily="34" charset="-122"/>
                  <a:cs typeface="Calibri" pitchFamily="34" charset="-120"/>
                </a:rPr>
                <a:t>Avg Agent Age</a:t>
              </a:r>
              <a:endParaRPr lang="en-US" sz="1200" dirty="0"/>
            </a:p>
          </p:txBody>
        </p:sp>
      </p:grpSp>
    </p:spTree>
    <p:extLst>
      <p:ext uri="{BB962C8B-B14F-4D97-AF65-F5344CB8AC3E}">
        <p14:creationId xmlns:p14="http://schemas.microsoft.com/office/powerpoint/2010/main" val="432214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84C5-76B9-AA16-BC02-B5C98FE46998}"/>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60F02E3C-278C-7C39-3667-A0A2BF088D6E}"/>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9A1DD5C0-4E1B-66A7-60CE-30A58A2D6BD0}"/>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969EFA67-6B3D-239F-0073-1CF610BB3233}"/>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Objective Analysis</a:t>
            </a:r>
            <a:endParaRPr lang="en-US" sz="2800" dirty="0"/>
          </a:p>
        </p:txBody>
      </p:sp>
      <p:graphicFrame>
        <p:nvGraphicFramePr>
          <p:cNvPr id="5" name="Chart 4" descr="Chart">
            <a:extLst>
              <a:ext uri="{FF2B5EF4-FFF2-40B4-BE49-F238E27FC236}">
                <a16:creationId xmlns:a16="http://schemas.microsoft.com/office/drawing/2014/main" id="{931C2756-D2C5-B3C9-B43A-3EC6C8FB9930}"/>
              </a:ext>
            </a:extLst>
          </p:cNvPr>
          <p:cNvGraphicFramePr>
            <a:graphicFrameLocks/>
          </p:cNvGraphicFramePr>
          <p:nvPr>
            <p:extLst>
              <p:ext uri="{D42A27DB-BD31-4B8C-83A1-F6EECF244321}">
                <p14:modId xmlns:p14="http://schemas.microsoft.com/office/powerpoint/2010/main" val="1802452184"/>
              </p:ext>
            </p:extLst>
          </p:nvPr>
        </p:nvGraphicFramePr>
        <p:xfrm>
          <a:off x="4283616" y="1403151"/>
          <a:ext cx="4654232" cy="31064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08A12EF4-191B-CF7D-9A01-2F2C86358B7D}"/>
              </a:ext>
            </a:extLst>
          </p:cNvPr>
          <p:cNvSpPr txBox="1"/>
          <p:nvPr/>
        </p:nvSpPr>
        <p:spPr>
          <a:xfrm>
            <a:off x="206152" y="1880380"/>
            <a:ext cx="4004311" cy="1569660"/>
          </a:xfrm>
          <a:prstGeom prst="rect">
            <a:avLst/>
          </a:prstGeom>
          <a:noFill/>
        </p:spPr>
        <p:txBody>
          <a:bodyPr wrap="square">
            <a:spAutoFit/>
          </a:bodyPr>
          <a:lstStyle/>
          <a:p>
            <a:pPr marL="342900" lvl="0" indent="-342900" algn="just">
              <a:buFont typeface="Arial" panose="020B0604020202020204" pitchFamily="34" charset="0"/>
              <a:buChar char="•"/>
            </a:pPr>
            <a:r>
              <a:rPr lang="en-IN" sz="1200" b="1" dirty="0"/>
              <a:t>Consistent upward trend</a:t>
            </a:r>
            <a:r>
              <a:rPr lang="en-IN" sz="1200" dirty="0"/>
              <a:t> across all five data points — no dips or reversals</a:t>
            </a:r>
          </a:p>
          <a:p>
            <a:pPr marL="342900" lvl="0" indent="-342900" algn="just">
              <a:buFont typeface="Arial" panose="020B0604020202020204" pitchFamily="34" charset="0"/>
              <a:buChar char="•"/>
            </a:pPr>
            <a:r>
              <a:rPr lang="en-IN" sz="1200" b="1" dirty="0"/>
              <a:t>Steady growth</a:t>
            </a:r>
            <a:r>
              <a:rPr lang="en-IN" sz="1200" dirty="0"/>
              <a:t> through the first four periods, roughly linear pace</a:t>
            </a:r>
          </a:p>
          <a:p>
            <a:pPr marL="342900" lvl="0" indent="-342900" algn="just">
              <a:buFont typeface="Arial" panose="020B0604020202020204" pitchFamily="34" charset="0"/>
              <a:buChar char="•"/>
            </a:pPr>
            <a:r>
              <a:rPr lang="en-IN" sz="1200" b="1" dirty="0"/>
              <a:t>Sharp acceleration</a:t>
            </a:r>
            <a:r>
              <a:rPr lang="en-IN" sz="1200" dirty="0"/>
              <a:t> in the final period, breaking from the earlier trend line</a:t>
            </a:r>
          </a:p>
          <a:p>
            <a:pPr marL="342900" lvl="0" indent="-342900" algn="just">
              <a:buFont typeface="Arial" panose="020B0604020202020204" pitchFamily="34" charset="0"/>
              <a:buChar char="•"/>
            </a:pPr>
            <a:r>
              <a:rPr lang="en-IN" sz="1200" b="1" dirty="0"/>
              <a:t>Momentum is building</a:t>
            </a:r>
            <a:r>
              <a:rPr lang="en-IN" sz="1200" dirty="0"/>
              <a:t>, suggesting the growth rate itself is increasing, not just the total</a:t>
            </a:r>
          </a:p>
        </p:txBody>
      </p:sp>
      <p:sp>
        <p:nvSpPr>
          <p:cNvPr id="12" name="Text 1">
            <a:extLst>
              <a:ext uri="{FF2B5EF4-FFF2-40B4-BE49-F238E27FC236}">
                <a16:creationId xmlns:a16="http://schemas.microsoft.com/office/drawing/2014/main" id="{0B472800-5944-4BC0-835D-EE0D6759077E}"/>
              </a:ext>
            </a:extLst>
          </p:cNvPr>
          <p:cNvSpPr/>
          <p:nvPr/>
        </p:nvSpPr>
        <p:spPr>
          <a:xfrm>
            <a:off x="397764" y="900231"/>
            <a:ext cx="8412480" cy="502920"/>
          </a:xfrm>
          <a:prstGeom prst="rect">
            <a:avLst/>
          </a:prstGeom>
          <a:noFill/>
          <a:ln/>
        </p:spPr>
        <p:txBody>
          <a:bodyPr wrap="square" lIns="0" tIns="0" rIns="0" bIns="0" rtlCol="0" anchor="ctr"/>
          <a:lstStyle/>
          <a:p>
            <a:pPr algn="ctr">
              <a:defRPr sz="2128" b="1" i="0" u="none" strike="noStrike" kern="1200" cap="all" spc="120" normalizeH="0" baseline="0">
                <a:solidFill>
                  <a:prstClr val="white"/>
                </a:solidFill>
                <a:latin typeface="+mn-lt"/>
                <a:ea typeface="+mn-ea"/>
                <a:cs typeface="+mn-cs"/>
              </a:defRPr>
            </a:pPr>
            <a:r>
              <a:rPr lang="en-US" sz="1600" dirty="0"/>
              <a:t>Yearly Ticket Volume Trend</a:t>
            </a:r>
          </a:p>
        </p:txBody>
      </p:sp>
    </p:spTree>
    <p:extLst>
      <p:ext uri="{BB962C8B-B14F-4D97-AF65-F5344CB8AC3E}">
        <p14:creationId xmlns:p14="http://schemas.microsoft.com/office/powerpoint/2010/main" val="943784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3733A-1727-741F-822A-B1409F20547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E8F18942-B9E2-9AE4-177D-A4BC2EDFC959}"/>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21E482C2-05FA-737F-F3BE-D1A46AFF2443}"/>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4C443B1B-2131-B894-5080-853182160D3B}"/>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Objective Analysis</a:t>
            </a:r>
            <a:endParaRPr lang="en-US" sz="2800" dirty="0"/>
          </a:p>
        </p:txBody>
      </p:sp>
      <p:sp>
        <p:nvSpPr>
          <p:cNvPr id="9" name="TextBox 8">
            <a:extLst>
              <a:ext uri="{FF2B5EF4-FFF2-40B4-BE49-F238E27FC236}">
                <a16:creationId xmlns:a16="http://schemas.microsoft.com/office/drawing/2014/main" id="{2110C97F-DBCC-5D30-1FDB-9152AE998916}"/>
              </a:ext>
            </a:extLst>
          </p:cNvPr>
          <p:cNvSpPr txBox="1"/>
          <p:nvPr/>
        </p:nvSpPr>
        <p:spPr>
          <a:xfrm>
            <a:off x="182880" y="1916847"/>
            <a:ext cx="4004311" cy="1754326"/>
          </a:xfrm>
          <a:prstGeom prst="rect">
            <a:avLst/>
          </a:prstGeom>
          <a:noFill/>
        </p:spPr>
        <p:txBody>
          <a:bodyPr wrap="square">
            <a:spAutoFit/>
          </a:bodyPr>
          <a:lstStyle/>
          <a:p>
            <a:pPr marL="171450" lvl="0" indent="-171450">
              <a:buFont typeface="Arial" panose="020B0604020202020204" pitchFamily="34" charset="0"/>
              <a:buChar char="•"/>
            </a:pPr>
            <a:r>
              <a:rPr lang="en-IN" sz="1200" b="1" dirty="0"/>
              <a:t>System issues dominate</a:t>
            </a:r>
            <a:r>
              <a:rPr lang="en-IN" sz="1200" dirty="0"/>
              <a:t>, accounting for 40% of the total — nearly double the next largest category</a:t>
            </a:r>
          </a:p>
          <a:p>
            <a:pPr marL="171450" lvl="0" indent="-171450">
              <a:buFont typeface="Arial" panose="020B0604020202020204" pitchFamily="34" charset="0"/>
              <a:buChar char="•"/>
            </a:pPr>
            <a:r>
              <a:rPr lang="en-IN" sz="1200" b="1" dirty="0"/>
              <a:t>Login Access is the second-largest driver</a:t>
            </a:r>
            <a:r>
              <a:rPr lang="en-IN" sz="1200" dirty="0"/>
              <a:t> at 30%, together with System making up 70% of all issues</a:t>
            </a:r>
          </a:p>
          <a:p>
            <a:pPr marL="171450" lvl="0" indent="-171450">
              <a:buFont typeface="Arial" panose="020B0604020202020204" pitchFamily="34" charset="0"/>
              <a:buChar char="•"/>
            </a:pPr>
            <a:r>
              <a:rPr lang="en-IN" sz="1200" b="1" dirty="0"/>
              <a:t>Software (20%) and Hardware (10%)</a:t>
            </a:r>
            <a:r>
              <a:rPr lang="en-IN" sz="1200" dirty="0"/>
              <a:t> are comparatively minor contributors</a:t>
            </a:r>
          </a:p>
          <a:p>
            <a:pPr marL="171450" lvl="0" indent="-171450">
              <a:buFont typeface="Arial" panose="020B0604020202020204" pitchFamily="34" charset="0"/>
              <a:buChar char="•"/>
            </a:pPr>
            <a:r>
              <a:rPr lang="en-IN" sz="1200" b="1" dirty="0"/>
              <a:t>System + Login Access alone represent 7 out of 10 cases</a:t>
            </a:r>
            <a:r>
              <a:rPr lang="en-IN" sz="1200" dirty="0"/>
              <a:t>, suggesting these two areas should be the top priority for resolution or investigation</a:t>
            </a:r>
          </a:p>
        </p:txBody>
      </p:sp>
      <p:sp>
        <p:nvSpPr>
          <p:cNvPr id="12" name="Text 1">
            <a:extLst>
              <a:ext uri="{FF2B5EF4-FFF2-40B4-BE49-F238E27FC236}">
                <a16:creationId xmlns:a16="http://schemas.microsoft.com/office/drawing/2014/main" id="{7F62F0A4-0ACF-6643-B613-FFA89DA1FFE1}"/>
              </a:ext>
            </a:extLst>
          </p:cNvPr>
          <p:cNvSpPr/>
          <p:nvPr/>
        </p:nvSpPr>
        <p:spPr>
          <a:xfrm>
            <a:off x="397764" y="900231"/>
            <a:ext cx="8412480" cy="502920"/>
          </a:xfrm>
          <a:prstGeom prst="rect">
            <a:avLst/>
          </a:prstGeom>
          <a:noFill/>
          <a:ln/>
        </p:spPr>
        <p:txBody>
          <a:bodyPr wrap="square" lIns="0" tIns="0" rIns="0" bIns="0" rtlCol="0" anchor="ctr"/>
          <a:lstStyle/>
          <a:p>
            <a:pPr algn="ctr">
              <a:defRPr sz="1600" b="1" i="0" u="none" strike="noStrike" kern="1200" baseline="0">
                <a:solidFill>
                  <a:srgbClr val="E7E6E6"/>
                </a:solidFill>
                <a:latin typeface="+mn-lt"/>
                <a:ea typeface="+mn-ea"/>
                <a:cs typeface="+mn-cs"/>
              </a:defRPr>
            </a:pPr>
            <a:r>
              <a:rPr lang="en-US" dirty="0"/>
              <a:t>TICKET CATEGORY DISTRIBUTION</a:t>
            </a:r>
          </a:p>
        </p:txBody>
      </p:sp>
      <p:graphicFrame>
        <p:nvGraphicFramePr>
          <p:cNvPr id="8" name="Chart 7">
            <a:extLst>
              <a:ext uri="{FF2B5EF4-FFF2-40B4-BE49-F238E27FC236}">
                <a16:creationId xmlns:a16="http://schemas.microsoft.com/office/drawing/2014/main" id="{F5FA9250-0026-6806-2EAF-0C9FA9A5E470}"/>
              </a:ext>
            </a:extLst>
          </p:cNvPr>
          <p:cNvGraphicFramePr>
            <a:graphicFrameLocks/>
          </p:cNvGraphicFramePr>
          <p:nvPr>
            <p:extLst>
              <p:ext uri="{D42A27DB-BD31-4B8C-83A1-F6EECF244321}">
                <p14:modId xmlns:p14="http://schemas.microsoft.com/office/powerpoint/2010/main" val="529959830"/>
              </p:ext>
            </p:extLst>
          </p:nvPr>
        </p:nvGraphicFramePr>
        <p:xfrm>
          <a:off x="4754880" y="1706002"/>
          <a:ext cx="3770769" cy="24530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2288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B32D7-E07E-2F4C-BAF4-F2B282A8EFFB}"/>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F71A7772-4850-A0E0-3DA0-E6E52F3E0C2D}"/>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F3D59C55-A3A2-2AD7-742B-9B08ED7E4454}"/>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5B2C53BD-E934-378E-2EDA-06F4BA695563}"/>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Objective Analysis</a:t>
            </a:r>
            <a:endParaRPr lang="en-US" sz="2800" dirty="0"/>
          </a:p>
        </p:txBody>
      </p:sp>
      <p:sp>
        <p:nvSpPr>
          <p:cNvPr id="9" name="TextBox 8">
            <a:extLst>
              <a:ext uri="{FF2B5EF4-FFF2-40B4-BE49-F238E27FC236}">
                <a16:creationId xmlns:a16="http://schemas.microsoft.com/office/drawing/2014/main" id="{982C7009-697E-F8B2-6EC8-25BDF91F5980}"/>
              </a:ext>
            </a:extLst>
          </p:cNvPr>
          <p:cNvSpPr txBox="1"/>
          <p:nvPr/>
        </p:nvSpPr>
        <p:spPr>
          <a:xfrm>
            <a:off x="354710" y="1571862"/>
            <a:ext cx="4004311" cy="2123658"/>
          </a:xfrm>
          <a:prstGeom prst="rect">
            <a:avLst/>
          </a:prstGeom>
          <a:noFill/>
        </p:spPr>
        <p:txBody>
          <a:bodyPr wrap="square">
            <a:spAutoFit/>
          </a:bodyPr>
          <a:lstStyle/>
          <a:p>
            <a:pPr marL="171450" lvl="0" indent="-171450">
              <a:buFont typeface="Arial" panose="020B0604020202020204" pitchFamily="34" charset="0"/>
              <a:buChar char="•"/>
            </a:pPr>
            <a:r>
              <a:rPr lang="en-IN" sz="1200" b="1" dirty="0"/>
              <a:t>Wide performance spread</a:t>
            </a:r>
            <a:r>
              <a:rPr lang="en-IN" sz="1200" dirty="0"/>
              <a:t> — the highest-performing agent handles noticeably more tickets than the lowest, with a smooth, gradual decline rather than sharp tiers</a:t>
            </a:r>
          </a:p>
          <a:p>
            <a:pPr marL="171450" lvl="0" indent="-171450">
              <a:buFont typeface="Arial" panose="020B0604020202020204" pitchFamily="34" charset="0"/>
              <a:buChar char="•"/>
            </a:pPr>
            <a:r>
              <a:rPr lang="en-IN" sz="1200" b="1" dirty="0"/>
              <a:t>Most agents cluster in the middle</a:t>
            </a:r>
            <a:r>
              <a:rPr lang="en-IN" sz="1200" dirty="0"/>
              <a:t>, handling a fairly similar volume — the real outliers are at the two extremes</a:t>
            </a:r>
          </a:p>
          <a:p>
            <a:pPr marL="171450" lvl="0" indent="-171450">
              <a:buFont typeface="Arial" panose="020B0604020202020204" pitchFamily="34" charset="0"/>
              <a:buChar char="•"/>
            </a:pPr>
            <a:r>
              <a:rPr lang="en-IN" sz="1200" b="1" dirty="0"/>
              <a:t>A long tail of lower-volume agents</a:t>
            </a:r>
            <a:r>
              <a:rPr lang="en-IN" sz="1200" dirty="0"/>
              <a:t> at the right suggests either newer team members, part-time capacity, or uneven ticket distribution</a:t>
            </a:r>
          </a:p>
          <a:p>
            <a:pPr marL="171450" lvl="0" indent="-171450">
              <a:buFont typeface="Arial" panose="020B0604020202020204" pitchFamily="34" charset="0"/>
              <a:buChar char="•"/>
            </a:pPr>
            <a:r>
              <a:rPr lang="en-IN" sz="1200" b="1" dirty="0"/>
              <a:t>Top-heavy distribution</a:t>
            </a:r>
            <a:r>
              <a:rPr lang="en-IN" sz="1200" dirty="0"/>
              <a:t>: a small group of high performers likely accounts for a disproportionate share of total tickets resolved</a:t>
            </a:r>
          </a:p>
        </p:txBody>
      </p:sp>
      <p:sp>
        <p:nvSpPr>
          <p:cNvPr id="12" name="Text 1">
            <a:extLst>
              <a:ext uri="{FF2B5EF4-FFF2-40B4-BE49-F238E27FC236}">
                <a16:creationId xmlns:a16="http://schemas.microsoft.com/office/drawing/2014/main" id="{5297D54A-6726-5BD1-55D2-B2CEA5649CD5}"/>
              </a:ext>
            </a:extLst>
          </p:cNvPr>
          <p:cNvSpPr/>
          <p:nvPr/>
        </p:nvSpPr>
        <p:spPr>
          <a:xfrm>
            <a:off x="397764" y="900231"/>
            <a:ext cx="8412480" cy="502920"/>
          </a:xfrm>
          <a:prstGeom prst="rect">
            <a:avLst/>
          </a:prstGeom>
          <a:noFill/>
          <a:ln/>
        </p:spPr>
        <p:txBody>
          <a:bodyPr wrap="square" lIns="0" tIns="0" rIns="0" bIns="0" rtlCol="0" anchor="ctr"/>
          <a:lstStyle/>
          <a:p>
            <a:pPr algn="ctr">
              <a:defRPr sz="1600" b="1" i="0" u="none" strike="noStrike" kern="1200" baseline="0">
                <a:solidFill>
                  <a:srgbClr val="E7E6E6"/>
                </a:solidFill>
                <a:latin typeface="+mn-lt"/>
                <a:ea typeface="+mn-ea"/>
                <a:cs typeface="+mn-cs"/>
              </a:defRPr>
            </a:pPr>
            <a:r>
              <a:rPr lang="en-US" dirty="0"/>
              <a:t>COUNT OF TICKET HANDLE BY EACH AGENT</a:t>
            </a:r>
          </a:p>
        </p:txBody>
      </p:sp>
      <p:graphicFrame>
        <p:nvGraphicFramePr>
          <p:cNvPr id="2" name="Chart 1">
            <a:extLst>
              <a:ext uri="{FF2B5EF4-FFF2-40B4-BE49-F238E27FC236}">
                <a16:creationId xmlns:a16="http://schemas.microsoft.com/office/drawing/2014/main" id="{CFAC7766-60AC-985A-19FC-F12B49389E92}"/>
              </a:ext>
            </a:extLst>
          </p:cNvPr>
          <p:cNvGraphicFramePr>
            <a:graphicFrameLocks/>
          </p:cNvGraphicFramePr>
          <p:nvPr>
            <p:extLst>
              <p:ext uri="{D42A27DB-BD31-4B8C-83A1-F6EECF244321}">
                <p14:modId xmlns:p14="http://schemas.microsoft.com/office/powerpoint/2010/main" val="3603675034"/>
              </p:ext>
            </p:extLst>
          </p:nvPr>
        </p:nvGraphicFramePr>
        <p:xfrm>
          <a:off x="4604004" y="1571862"/>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730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E406-B5D0-4054-84B5-7D5A84522969}"/>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1FAA9F85-FF7D-DAC3-D256-E46088615E54}"/>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62566073-AE24-D5A4-F85F-945DC8807395}"/>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F6864B21-178E-6A64-A545-02E9B55773E4}"/>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Objective Analysis</a:t>
            </a:r>
            <a:endParaRPr lang="en-US" sz="2800" dirty="0"/>
          </a:p>
        </p:txBody>
      </p:sp>
      <p:sp>
        <p:nvSpPr>
          <p:cNvPr id="9" name="TextBox 8">
            <a:extLst>
              <a:ext uri="{FF2B5EF4-FFF2-40B4-BE49-F238E27FC236}">
                <a16:creationId xmlns:a16="http://schemas.microsoft.com/office/drawing/2014/main" id="{082B4CE2-9899-5E72-9529-7625EEBF9C20}"/>
              </a:ext>
            </a:extLst>
          </p:cNvPr>
          <p:cNvSpPr txBox="1"/>
          <p:nvPr/>
        </p:nvSpPr>
        <p:spPr>
          <a:xfrm>
            <a:off x="667130" y="2002244"/>
            <a:ext cx="4004311" cy="1384995"/>
          </a:xfrm>
          <a:prstGeom prst="rect">
            <a:avLst/>
          </a:prstGeom>
          <a:noFill/>
        </p:spPr>
        <p:txBody>
          <a:bodyPr wrap="square">
            <a:spAutoFit/>
          </a:bodyPr>
          <a:lstStyle/>
          <a:p>
            <a:pPr marL="171450" lvl="0" indent="-171450">
              <a:buFont typeface="Arial" panose="020B0604020202020204" pitchFamily="34" charset="0"/>
              <a:buChar char="•"/>
            </a:pPr>
            <a:r>
              <a:rPr lang="en-IN" sz="1200" b="1" dirty="0"/>
              <a:t>IT Requests dominate the ticket volume</a:t>
            </a:r>
            <a:r>
              <a:rPr lang="en-IN" sz="1200" dirty="0"/>
              <a:t>, making up roughly three-quarters of all issues logged</a:t>
            </a:r>
          </a:p>
          <a:p>
            <a:pPr marL="171450" lvl="0" indent="-171450">
              <a:buFont typeface="Arial" panose="020B0604020202020204" pitchFamily="34" charset="0"/>
              <a:buChar char="•"/>
            </a:pPr>
            <a:r>
              <a:rPr lang="en-IN" sz="1200" b="1" dirty="0"/>
              <a:t>IT Errors are a smaller share</a:t>
            </a:r>
            <a:r>
              <a:rPr lang="en-IN" sz="1200" dirty="0"/>
              <a:t>, around a quarter of the total</a:t>
            </a:r>
          </a:p>
          <a:p>
            <a:pPr marL="171450" lvl="0" indent="-171450">
              <a:buFont typeface="Arial" panose="020B0604020202020204" pitchFamily="34" charset="0"/>
              <a:buChar char="•"/>
            </a:pPr>
            <a:r>
              <a:rPr lang="en-IN" sz="1200" b="1" dirty="0"/>
              <a:t>Requests outnumber errors by about 3:1</a:t>
            </a:r>
            <a:r>
              <a:rPr lang="en-IN" sz="1200" dirty="0"/>
              <a:t>, suggesting the team's workload leans more toward user-driven asks (access, provisioning, setup) than system/technical failures</a:t>
            </a:r>
          </a:p>
          <a:p>
            <a:pPr marL="171450" lvl="0" indent="-171450">
              <a:buFont typeface="Arial" panose="020B0604020202020204" pitchFamily="34" charset="0"/>
              <a:buChar char="•"/>
            </a:pPr>
            <a:endParaRPr lang="en-IN" sz="1200" dirty="0"/>
          </a:p>
        </p:txBody>
      </p:sp>
      <p:sp>
        <p:nvSpPr>
          <p:cNvPr id="12" name="Text 1">
            <a:extLst>
              <a:ext uri="{FF2B5EF4-FFF2-40B4-BE49-F238E27FC236}">
                <a16:creationId xmlns:a16="http://schemas.microsoft.com/office/drawing/2014/main" id="{5E763750-A73E-BD05-972A-92436BC71E03}"/>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US" sz="1600" b="1" dirty="0"/>
              <a:t>ISSUE TYPE </a:t>
            </a:r>
          </a:p>
        </p:txBody>
      </p:sp>
      <p:graphicFrame>
        <p:nvGraphicFramePr>
          <p:cNvPr id="5" name="Chart 4">
            <a:extLst>
              <a:ext uri="{FF2B5EF4-FFF2-40B4-BE49-F238E27FC236}">
                <a16:creationId xmlns:a16="http://schemas.microsoft.com/office/drawing/2014/main" id="{4CAD0F35-CD8B-7693-1223-38C779479FFC}"/>
              </a:ext>
            </a:extLst>
          </p:cNvPr>
          <p:cNvGraphicFramePr>
            <a:graphicFrameLocks/>
          </p:cNvGraphicFramePr>
          <p:nvPr>
            <p:extLst>
              <p:ext uri="{D42A27DB-BD31-4B8C-83A1-F6EECF244321}">
                <p14:modId xmlns:p14="http://schemas.microsoft.com/office/powerpoint/2010/main" val="3086023433"/>
              </p:ext>
            </p:extLst>
          </p:nvPr>
        </p:nvGraphicFramePr>
        <p:xfrm>
          <a:off x="4309828" y="1403151"/>
          <a:ext cx="4788452" cy="263041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12495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C77C-2128-28DA-1BF1-93EC62F8F8AD}"/>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1E3A9283-3CF4-46EE-3C02-DC564E02EC0D}"/>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8730C632-02CF-49BC-8E1F-A7FA6948FFDB}"/>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D24AEA34-8DD0-CD6A-7422-9528D8056754}"/>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Objective Analysis</a:t>
            </a:r>
            <a:endParaRPr lang="en-US" sz="2800" dirty="0"/>
          </a:p>
        </p:txBody>
      </p:sp>
      <p:sp>
        <p:nvSpPr>
          <p:cNvPr id="9" name="TextBox 8">
            <a:extLst>
              <a:ext uri="{FF2B5EF4-FFF2-40B4-BE49-F238E27FC236}">
                <a16:creationId xmlns:a16="http://schemas.microsoft.com/office/drawing/2014/main" id="{45B34A12-4418-B84A-A899-BE7CA691314F}"/>
              </a:ext>
            </a:extLst>
          </p:cNvPr>
          <p:cNvSpPr txBox="1"/>
          <p:nvPr/>
        </p:nvSpPr>
        <p:spPr>
          <a:xfrm>
            <a:off x="667130" y="2002244"/>
            <a:ext cx="4004311" cy="1015663"/>
          </a:xfrm>
          <a:prstGeom prst="rect">
            <a:avLst/>
          </a:prstGeom>
          <a:noFill/>
        </p:spPr>
        <p:txBody>
          <a:bodyPr wrap="square">
            <a:spAutoFit/>
          </a:bodyPr>
          <a:lstStyle/>
          <a:p>
            <a:pPr marL="171450" lvl="0" indent="-171450">
              <a:buFont typeface="Arial" panose="020B0604020202020204" pitchFamily="34" charset="0"/>
              <a:buChar char="•"/>
            </a:pPr>
            <a:r>
              <a:rPr lang="en-IN" sz="1200" b="1" dirty="0"/>
              <a:t>Severity 2 overwhelmingly dominates</a:t>
            </a:r>
            <a:r>
              <a:rPr lang="en-IN" sz="1200" dirty="0"/>
              <a:t>, with 88,656 tickets — roughly </a:t>
            </a:r>
            <a:r>
              <a:rPr lang="en-IN" sz="1200" b="1" dirty="0"/>
              <a:t>91% of all tickets</a:t>
            </a:r>
            <a:r>
              <a:rPr lang="en-IN" sz="1200" dirty="0"/>
              <a:t> (~97,498 total)</a:t>
            </a:r>
          </a:p>
          <a:p>
            <a:pPr marL="171450" lvl="0" indent="-171450">
              <a:buFont typeface="Arial" panose="020B0604020202020204" pitchFamily="34" charset="0"/>
              <a:buChar char="•"/>
            </a:pPr>
            <a:r>
              <a:rPr lang="en-IN" sz="1200" b="1" dirty="0"/>
              <a:t>All other severities are minor by comparison</a:t>
            </a:r>
            <a:r>
              <a:rPr lang="en-IN" sz="1200" dirty="0"/>
              <a:t>: Severity 3 (4,836), Severity 4 (1,392), Severity 1 (2,258), and Severity 0 (356) combined make up less than 10% of volume</a:t>
            </a:r>
          </a:p>
        </p:txBody>
      </p:sp>
      <p:sp>
        <p:nvSpPr>
          <p:cNvPr id="12" name="Text 1">
            <a:extLst>
              <a:ext uri="{FF2B5EF4-FFF2-40B4-BE49-F238E27FC236}">
                <a16:creationId xmlns:a16="http://schemas.microsoft.com/office/drawing/2014/main" id="{FCC130E7-574E-5F17-1E8C-7311585C9B5C}"/>
              </a:ext>
            </a:extLst>
          </p:cNvPr>
          <p:cNvSpPr/>
          <p:nvPr/>
        </p:nvSpPr>
        <p:spPr>
          <a:xfrm>
            <a:off x="397764" y="900231"/>
            <a:ext cx="8412480" cy="502920"/>
          </a:xfrm>
          <a:prstGeom prst="rect">
            <a:avLst/>
          </a:prstGeom>
          <a:noFill/>
          <a:ln/>
        </p:spPr>
        <p:txBody>
          <a:bodyPr wrap="square" lIns="0" tIns="0" rIns="0" bIns="0" rtlCol="0" anchor="ctr"/>
          <a:lstStyle/>
          <a:p>
            <a:pPr algn="ctr">
              <a:defRPr sz="1400" b="1" i="0" u="none" strike="noStrike" kern="1200" cap="none" baseline="0">
                <a:solidFill>
                  <a:prstClr val="white">
                    <a:lumMod val="85000"/>
                  </a:prstClr>
                </a:solidFill>
                <a:latin typeface="+mn-lt"/>
                <a:ea typeface="+mn-ea"/>
                <a:cs typeface="+mn-cs"/>
              </a:defRPr>
            </a:pPr>
            <a:r>
              <a:rPr lang="en-US" sz="1600" dirty="0"/>
              <a:t>COUNT OF SEVERITY OF TICKETS</a:t>
            </a:r>
          </a:p>
        </p:txBody>
      </p:sp>
      <p:graphicFrame>
        <p:nvGraphicFramePr>
          <p:cNvPr id="2" name="Chart 1">
            <a:extLst>
              <a:ext uri="{FF2B5EF4-FFF2-40B4-BE49-F238E27FC236}">
                <a16:creationId xmlns:a16="http://schemas.microsoft.com/office/drawing/2014/main" id="{CC4ACD08-F930-E422-45CD-35E22D0FBD6E}"/>
              </a:ext>
            </a:extLst>
          </p:cNvPr>
          <p:cNvGraphicFramePr>
            <a:graphicFrameLocks/>
          </p:cNvGraphicFramePr>
          <p:nvPr>
            <p:extLst>
              <p:ext uri="{D42A27DB-BD31-4B8C-83A1-F6EECF244321}">
                <p14:modId xmlns:p14="http://schemas.microsoft.com/office/powerpoint/2010/main" val="4246420403"/>
              </p:ext>
            </p:extLst>
          </p:nvPr>
        </p:nvGraphicFramePr>
        <p:xfrm>
          <a:off x="5228843" y="1493520"/>
          <a:ext cx="35052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7295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0BFFB-FD86-18B3-A066-38E51C1018B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D74A8E76-8CC4-CD75-93F1-76958921C4FE}"/>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6AF46D3D-E862-FB20-7CD1-6EC43FF20070}"/>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7AB6ED90-FA2E-56A3-9006-B5F371A009CC}"/>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A218B4B3-136D-477B-EB0A-8A41E0AD8F25}"/>
              </a:ext>
            </a:extLst>
          </p:cNvPr>
          <p:cNvSpPr txBox="1"/>
          <p:nvPr/>
        </p:nvSpPr>
        <p:spPr>
          <a:xfrm>
            <a:off x="369950" y="1717507"/>
            <a:ext cx="4004311" cy="2492990"/>
          </a:xfrm>
          <a:prstGeom prst="rect">
            <a:avLst/>
          </a:prstGeom>
          <a:noFill/>
        </p:spPr>
        <p:txBody>
          <a:bodyPr wrap="square">
            <a:spAutoFit/>
          </a:bodyPr>
          <a:lstStyle/>
          <a:p>
            <a:pPr marL="171450" lvl="0" indent="-171450">
              <a:buFont typeface="Arial" panose="020B0604020202020204" pitchFamily="34" charset="0"/>
              <a:buChar char="•"/>
            </a:pPr>
            <a:r>
              <a:rPr lang="en-IN" sz="1200" b="1" dirty="0"/>
              <a:t>No overload, no time-satisfaction link:</a:t>
            </a:r>
            <a:r>
              <a:rPr lang="en-IN" sz="1200" dirty="0"/>
              <a:t> Correlation between resolution time and satisfaction is ~0 (-0.004), and agent workload is fairly even (~1,850–2,050 tickets/agent) — so the problem isn't staffing capacity.</a:t>
            </a:r>
          </a:p>
          <a:p>
            <a:pPr marL="171450" lvl="0" indent="-171450">
              <a:buFont typeface="Arial" panose="020B0604020202020204" pitchFamily="34" charset="0"/>
              <a:buChar char="•"/>
            </a:pPr>
            <a:r>
              <a:rPr lang="en-IN" sz="1200" b="1" dirty="0"/>
              <a:t>Performance gap is skill-based, not category-based:</a:t>
            </a:r>
            <a:r>
              <a:rPr lang="en-IN" sz="1200" dirty="0"/>
              <a:t> Satisfaction varies more across agents (3.04–4.60) than across ticket categories (~4.09–4.11), pointing to inconsistent agent knowledge/skill rather than process or category issues.</a:t>
            </a:r>
          </a:p>
          <a:p>
            <a:pPr marL="171450" lvl="0" indent="-171450">
              <a:buFont typeface="Arial" panose="020B0604020202020204" pitchFamily="34" charset="0"/>
              <a:buChar char="•"/>
            </a:pPr>
            <a:r>
              <a:rPr lang="en-IN" sz="1200" b="1" dirty="0"/>
              <a:t>Recommendation:</a:t>
            </a:r>
            <a:r>
              <a:rPr lang="en-IN" sz="1200" dirty="0"/>
              <a:t> Prioritize </a:t>
            </a:r>
            <a:r>
              <a:rPr lang="en-IN" sz="1200" b="1" dirty="0"/>
              <a:t>training programs</a:t>
            </a:r>
            <a:r>
              <a:rPr lang="en-IN" sz="1200" dirty="0"/>
              <a:t> (addresses root cause) → secondary investment in </a:t>
            </a:r>
            <a:r>
              <a:rPr lang="en-IN" sz="1200" b="1" dirty="0"/>
              <a:t>ticket management software</a:t>
            </a:r>
            <a:r>
              <a:rPr lang="en-IN" sz="1200" dirty="0"/>
              <a:t> (improves routing/knowledge access) → hiring more agents is </a:t>
            </a:r>
            <a:r>
              <a:rPr lang="en-IN" sz="1200" b="1" dirty="0"/>
              <a:t>not</a:t>
            </a:r>
            <a:r>
              <a:rPr lang="en-IN" sz="1200" dirty="0"/>
              <a:t> justified by the data.</a:t>
            </a:r>
          </a:p>
        </p:txBody>
      </p:sp>
      <p:sp>
        <p:nvSpPr>
          <p:cNvPr id="12" name="Text 1">
            <a:extLst>
              <a:ext uri="{FF2B5EF4-FFF2-40B4-BE49-F238E27FC236}">
                <a16:creationId xmlns:a16="http://schemas.microsoft.com/office/drawing/2014/main" id="{FAA1EDAD-FADC-024A-A9E7-186BE1AF3A22}"/>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INVESTMENT PRIORITY: TRAINING OVER HIRING OR SOFTWARE</a:t>
            </a:r>
            <a:endParaRPr lang="en-US" sz="1600" b="1" dirty="0"/>
          </a:p>
        </p:txBody>
      </p:sp>
      <p:graphicFrame>
        <p:nvGraphicFramePr>
          <p:cNvPr id="8" name="Chart 7">
            <a:extLst>
              <a:ext uri="{FF2B5EF4-FFF2-40B4-BE49-F238E27FC236}">
                <a16:creationId xmlns:a16="http://schemas.microsoft.com/office/drawing/2014/main" id="{DE9FB525-45D0-EE80-9CDA-ED8D4B08D022}"/>
              </a:ext>
            </a:extLst>
          </p:cNvPr>
          <p:cNvGraphicFramePr>
            <a:graphicFrameLocks/>
          </p:cNvGraphicFramePr>
          <p:nvPr>
            <p:extLst>
              <p:ext uri="{D42A27DB-BD31-4B8C-83A1-F6EECF244321}">
                <p14:modId xmlns:p14="http://schemas.microsoft.com/office/powerpoint/2010/main" val="704459340"/>
              </p:ext>
            </p:extLst>
          </p:nvPr>
        </p:nvGraphicFramePr>
        <p:xfrm>
          <a:off x="4907280" y="1500069"/>
          <a:ext cx="417576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97995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C48B-AA11-760C-FD20-29135183F47C}"/>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D047F48D-C6F0-CF1D-E166-8F5CA9531DAC}"/>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51733132-63FC-1B71-82F4-FDB9B58750BC}"/>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4E66D1E5-892B-B1C7-15D5-124DD4DA42F1}"/>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CE8ECFB1-B3FB-6328-76A2-BFC93D8877FD}"/>
              </a:ext>
            </a:extLst>
          </p:cNvPr>
          <p:cNvSpPr txBox="1"/>
          <p:nvPr/>
        </p:nvSpPr>
        <p:spPr>
          <a:xfrm>
            <a:off x="548640" y="2197567"/>
            <a:ext cx="4004311" cy="1384995"/>
          </a:xfrm>
          <a:prstGeom prst="rect">
            <a:avLst/>
          </a:prstGeom>
          <a:noFill/>
        </p:spPr>
        <p:txBody>
          <a:bodyPr wrap="square">
            <a:spAutoFit/>
          </a:bodyPr>
          <a:lstStyle/>
          <a:p>
            <a:pPr marL="171450" lvl="0" indent="-171450">
              <a:buFont typeface="Arial" panose="020B0604020202020204" pitchFamily="34" charset="0"/>
              <a:buChar char="•"/>
            </a:pPr>
            <a:r>
              <a:rPr lang="en-IN" sz="1200" dirty="0"/>
              <a:t>14 agents fall below average on both satisfaction and resolution time — Alfonso Barraza stands out with the lowest satisfaction score (3.04)</a:t>
            </a:r>
          </a:p>
          <a:p>
            <a:pPr marL="171450" lvl="0" indent="-171450">
              <a:buFont typeface="Arial" panose="020B0604020202020204" pitchFamily="34" charset="0"/>
              <a:buChar char="•"/>
            </a:pPr>
            <a:r>
              <a:rPr lang="en-IN" sz="1200" dirty="0"/>
              <a:t>6 agents (A. Trejo, Elena Velez, Lorena, </a:t>
            </a:r>
            <a:r>
              <a:rPr lang="en-IN" sz="1200" dirty="0" err="1"/>
              <a:t>Nurio</a:t>
            </a:r>
            <a:r>
              <a:rPr lang="en-IN" sz="1200" dirty="0"/>
              <a:t> Zepeda, Sandra Lujan, Guadalupe Villanueva) underperform on </a:t>
            </a:r>
            <a:r>
              <a:rPr lang="en-IN" sz="1200" b="1" dirty="0"/>
              <a:t>both</a:t>
            </a:r>
            <a:r>
              <a:rPr lang="en-IN" sz="1200" dirty="0"/>
              <a:t> metrics, </a:t>
            </a:r>
            <a:r>
              <a:rPr lang="en-IN" sz="1200" dirty="0" err="1"/>
              <a:t>signaling</a:t>
            </a:r>
            <a:r>
              <a:rPr lang="en-IN" sz="1200" dirty="0"/>
              <a:t> a systemic skills gap needing dual-track coaching</a:t>
            </a:r>
          </a:p>
        </p:txBody>
      </p:sp>
      <p:sp>
        <p:nvSpPr>
          <p:cNvPr id="12" name="Text 1">
            <a:extLst>
              <a:ext uri="{FF2B5EF4-FFF2-40B4-BE49-F238E27FC236}">
                <a16:creationId xmlns:a16="http://schemas.microsoft.com/office/drawing/2014/main" id="{C76B133A-73D8-A788-85C2-2D788F97C043}"/>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AGENTS NEEDING TRAINING SUPPORT</a:t>
            </a:r>
            <a:endParaRPr lang="en-US" sz="1600" b="1" dirty="0"/>
          </a:p>
        </p:txBody>
      </p:sp>
      <p:graphicFrame>
        <p:nvGraphicFramePr>
          <p:cNvPr id="2" name="Chart 1">
            <a:extLst>
              <a:ext uri="{FF2B5EF4-FFF2-40B4-BE49-F238E27FC236}">
                <a16:creationId xmlns:a16="http://schemas.microsoft.com/office/drawing/2014/main" id="{F01F25A1-9A72-136A-DD1D-51B5354EEA5B}"/>
              </a:ext>
            </a:extLst>
          </p:cNvPr>
          <p:cNvGraphicFramePr>
            <a:graphicFrameLocks/>
          </p:cNvGraphicFramePr>
          <p:nvPr>
            <p:extLst>
              <p:ext uri="{D42A27DB-BD31-4B8C-83A1-F6EECF244321}">
                <p14:modId xmlns:p14="http://schemas.microsoft.com/office/powerpoint/2010/main" val="3083039736"/>
              </p:ext>
            </p:extLst>
          </p:nvPr>
        </p:nvGraphicFramePr>
        <p:xfrm>
          <a:off x="4686679" y="1526142"/>
          <a:ext cx="4274441" cy="3048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47770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EC6A4-ED29-A53B-E9F0-1BDDEF55D20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CC75C6A-B3B9-03F0-1D6F-4E7301002AF7}"/>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40E76917-6A96-23B6-9298-1F4E65F0B13F}"/>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17855F19-00B3-906B-EFA4-3F972F10FACF}"/>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7EA5BA04-80CE-AD02-FF28-DEE797EBF8A2}"/>
              </a:ext>
            </a:extLst>
          </p:cNvPr>
          <p:cNvSpPr txBox="1"/>
          <p:nvPr/>
        </p:nvSpPr>
        <p:spPr>
          <a:xfrm>
            <a:off x="548640" y="2197567"/>
            <a:ext cx="4004311" cy="1200329"/>
          </a:xfrm>
          <a:prstGeom prst="rect">
            <a:avLst/>
          </a:prstGeom>
          <a:noFill/>
        </p:spPr>
        <p:txBody>
          <a:bodyPr wrap="square">
            <a:spAutoFit/>
          </a:bodyPr>
          <a:lstStyle/>
          <a:p>
            <a:pPr marL="171450" lvl="0" indent="-171450">
              <a:buFont typeface="Arial" panose="020B0604020202020204" pitchFamily="34" charset="0"/>
              <a:buChar char="•"/>
            </a:pPr>
            <a:r>
              <a:rPr lang="en-IN" sz="1200" dirty="0"/>
              <a:t>Resolution time stayed flat across all categories (Hardware, Login Access, Software, System) from 2016–2020 despite rising ticket volume — no signs of tool strain</a:t>
            </a:r>
          </a:p>
          <a:p>
            <a:pPr marL="171450" lvl="0" indent="-171450">
              <a:buFont typeface="Arial" panose="020B0604020202020204" pitchFamily="34" charset="0"/>
              <a:buChar char="•"/>
            </a:pPr>
            <a:r>
              <a:rPr lang="en-IN" sz="1200" dirty="0"/>
              <a:t>Satisfaction rate improved consistently in every category over the same period, showing current tools support a steadily improving customer experience</a:t>
            </a:r>
          </a:p>
        </p:txBody>
      </p:sp>
      <p:sp>
        <p:nvSpPr>
          <p:cNvPr id="12" name="Text 1">
            <a:extLst>
              <a:ext uri="{FF2B5EF4-FFF2-40B4-BE49-F238E27FC236}">
                <a16:creationId xmlns:a16="http://schemas.microsoft.com/office/drawing/2014/main" id="{A996780F-5A2E-7CF2-8355-DECFD662A941}"/>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TOOL EFFECTIVENESS HOLDING STEADY UNDER GROWING LOAD</a:t>
            </a:r>
            <a:endParaRPr lang="en-US" sz="1600" b="1" dirty="0"/>
          </a:p>
        </p:txBody>
      </p:sp>
      <p:graphicFrame>
        <p:nvGraphicFramePr>
          <p:cNvPr id="8" name="Chart 7">
            <a:extLst>
              <a:ext uri="{FF2B5EF4-FFF2-40B4-BE49-F238E27FC236}">
                <a16:creationId xmlns:a16="http://schemas.microsoft.com/office/drawing/2014/main" id="{731A1991-1B1B-3A4C-14E7-379CC1980190}"/>
              </a:ext>
            </a:extLst>
          </p:cNvPr>
          <p:cNvGraphicFramePr>
            <a:graphicFrameLocks/>
          </p:cNvGraphicFramePr>
          <p:nvPr>
            <p:extLst>
              <p:ext uri="{D42A27DB-BD31-4B8C-83A1-F6EECF244321}">
                <p14:modId xmlns:p14="http://schemas.microsoft.com/office/powerpoint/2010/main" val="1253649811"/>
              </p:ext>
            </p:extLst>
          </p:nvPr>
        </p:nvGraphicFramePr>
        <p:xfrm>
          <a:off x="4754880" y="1721607"/>
          <a:ext cx="4085076" cy="21645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07239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5A1FC-5F13-4B2B-19DF-331FCF5402A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ED48E138-F118-C143-6A86-8D7FCEC147F8}"/>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99E31641-F0DE-3243-37FC-26D1EFADDCB2}"/>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F456FD7E-82E8-EFCF-C03E-0228267BB076}"/>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D46F45E5-7970-00B8-482C-80741C71C9D3}"/>
              </a:ext>
            </a:extLst>
          </p:cNvPr>
          <p:cNvSpPr txBox="1"/>
          <p:nvPr/>
        </p:nvSpPr>
        <p:spPr>
          <a:xfrm>
            <a:off x="292988" y="1971585"/>
            <a:ext cx="4004311" cy="1569660"/>
          </a:xfrm>
          <a:prstGeom prst="rect">
            <a:avLst/>
          </a:prstGeom>
          <a:noFill/>
        </p:spPr>
        <p:txBody>
          <a:bodyPr wrap="square">
            <a:spAutoFit/>
          </a:bodyPr>
          <a:lstStyle/>
          <a:p>
            <a:pPr marL="171450" lvl="0" indent="-171450">
              <a:buFont typeface="Arial" panose="020B0604020202020204" pitchFamily="34" charset="0"/>
              <a:buChar char="•"/>
            </a:pPr>
            <a:r>
              <a:rPr lang="en-IN" sz="1200" dirty="0"/>
              <a:t>Resolution time stayed consistent across quarters (4.52–4.58 days), with satisfaction rate trending upward each year within every quarter (e.g., Qtr1: 3.95 in 2016 → 4.14 in 2020)</a:t>
            </a:r>
          </a:p>
          <a:p>
            <a:pPr marL="171450" lvl="0" indent="-171450">
              <a:buFont typeface="Arial" panose="020B0604020202020204" pitchFamily="34" charset="0"/>
              <a:buChar char="•"/>
            </a:pPr>
            <a:r>
              <a:rPr lang="en-IN" sz="1200" dirty="0"/>
              <a:t>No major seasonal spikes in resolution time despite year-over-year growth, though slightly higher volumes show mild upward pressure — suggesting room to optimize during peak periods</a:t>
            </a:r>
          </a:p>
        </p:txBody>
      </p:sp>
      <p:sp>
        <p:nvSpPr>
          <p:cNvPr id="12" name="Text 1">
            <a:extLst>
              <a:ext uri="{FF2B5EF4-FFF2-40B4-BE49-F238E27FC236}">
                <a16:creationId xmlns:a16="http://schemas.microsoft.com/office/drawing/2014/main" id="{17DCD0BB-AB75-050E-3158-BF2B71A13B40}"/>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STEADY QUARTERLY PERFORMANCE WITH GRADUAL IMPROVEMENT</a:t>
            </a:r>
            <a:endParaRPr lang="en-US" sz="1600" b="1" dirty="0"/>
          </a:p>
        </p:txBody>
      </p:sp>
      <p:graphicFrame>
        <p:nvGraphicFramePr>
          <p:cNvPr id="2" name="Chart 1">
            <a:extLst>
              <a:ext uri="{FF2B5EF4-FFF2-40B4-BE49-F238E27FC236}">
                <a16:creationId xmlns:a16="http://schemas.microsoft.com/office/drawing/2014/main" id="{EDDAD54A-1449-4F47-CEF9-6EF7406750AB}"/>
              </a:ext>
            </a:extLst>
          </p:cNvPr>
          <p:cNvGraphicFramePr>
            <a:graphicFrameLocks/>
          </p:cNvGraphicFramePr>
          <p:nvPr>
            <p:extLst>
              <p:ext uri="{D42A27DB-BD31-4B8C-83A1-F6EECF244321}">
                <p14:modId xmlns:p14="http://schemas.microsoft.com/office/powerpoint/2010/main" val="2454837241"/>
              </p:ext>
            </p:extLst>
          </p:nvPr>
        </p:nvGraphicFramePr>
        <p:xfrm>
          <a:off x="4480560" y="142613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0622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D275C-7F3F-7095-0A7C-DC834CAAE734}"/>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B2617F15-33D5-1DD8-94B6-9C4C8CFD5C2A}"/>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A14F2270-C28A-8ADA-56E5-7EE33E6AB2CF}"/>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D2925E42-AA3D-8C43-D233-345F030E2F00}"/>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AC14694B-B2A3-9FCA-308E-A3A60E46672F}"/>
              </a:ext>
            </a:extLst>
          </p:cNvPr>
          <p:cNvSpPr txBox="1"/>
          <p:nvPr/>
        </p:nvSpPr>
        <p:spPr>
          <a:xfrm>
            <a:off x="292988" y="1971585"/>
            <a:ext cx="4004311" cy="1384995"/>
          </a:xfrm>
          <a:prstGeom prst="rect">
            <a:avLst/>
          </a:prstGeom>
          <a:noFill/>
        </p:spPr>
        <p:txBody>
          <a:bodyPr wrap="square">
            <a:spAutoFit/>
          </a:bodyPr>
          <a:lstStyle/>
          <a:p>
            <a:pPr marL="171450" lvl="0" indent="-171450">
              <a:buFont typeface="Arial" panose="020B0604020202020204" pitchFamily="34" charset="0"/>
              <a:buChar char="•"/>
            </a:pPr>
            <a:r>
              <a:rPr lang="en-IN" sz="1200" dirty="0"/>
              <a:t>Hardware, System, and Software requests show the longest resolution times (5.2–7.6 days) and the lowest satisfaction rates — the clearest targets for tech investment</a:t>
            </a:r>
          </a:p>
          <a:p>
            <a:pPr marL="171450" lvl="0" indent="-171450">
              <a:buFont typeface="Arial" panose="020B0604020202020204" pitchFamily="34" charset="0"/>
              <a:buChar char="•"/>
            </a:pPr>
            <a:r>
              <a:rPr lang="en-IN" sz="1200" dirty="0"/>
              <a:t>34,348 of 97,498 tickets already resolve within 0–1 day, showing faster resolution is achievable and directly linked to higher satisfaction</a:t>
            </a:r>
          </a:p>
        </p:txBody>
      </p:sp>
      <p:sp>
        <p:nvSpPr>
          <p:cNvPr id="12" name="Text 1">
            <a:extLst>
              <a:ext uri="{FF2B5EF4-FFF2-40B4-BE49-F238E27FC236}">
                <a16:creationId xmlns:a16="http://schemas.microsoft.com/office/drawing/2014/main" id="{7E38C8F6-9C8F-4B57-F677-D322EBA7AD3F}"/>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TECH INVESTMENT COULD CUT RESOLUTION TIMES, LIFT SATISFACTION</a:t>
            </a:r>
            <a:endParaRPr lang="en-US" b="1" dirty="0"/>
          </a:p>
        </p:txBody>
      </p:sp>
      <p:graphicFrame>
        <p:nvGraphicFramePr>
          <p:cNvPr id="5" name="Chart 4">
            <a:extLst>
              <a:ext uri="{FF2B5EF4-FFF2-40B4-BE49-F238E27FC236}">
                <a16:creationId xmlns:a16="http://schemas.microsoft.com/office/drawing/2014/main" id="{AAE90F33-2311-21C0-A6DA-C03261C8FE4E}"/>
              </a:ext>
            </a:extLst>
          </p:cNvPr>
          <p:cNvGraphicFramePr>
            <a:graphicFrameLocks/>
          </p:cNvGraphicFramePr>
          <p:nvPr>
            <p:extLst>
              <p:ext uri="{D42A27DB-BD31-4B8C-83A1-F6EECF244321}">
                <p14:modId xmlns:p14="http://schemas.microsoft.com/office/powerpoint/2010/main" val="2054054145"/>
              </p:ext>
            </p:extLst>
          </p:nvPr>
        </p:nvGraphicFramePr>
        <p:xfrm>
          <a:off x="4572000" y="1812489"/>
          <a:ext cx="3903663" cy="20878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2539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41F6-CD8C-599B-2B98-322DDD156FF1}"/>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EEB08DA0-04E9-DA88-2CCF-5774FD617A0C}"/>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B090BA3F-6231-DB33-686F-B16A1711F791}"/>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D59D2DBB-CC59-E855-9827-153131A20CDD}"/>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B25F82BC-1D16-12A1-A4CF-5C7459A9F077}"/>
              </a:ext>
            </a:extLst>
          </p:cNvPr>
          <p:cNvSpPr txBox="1"/>
          <p:nvPr/>
        </p:nvSpPr>
        <p:spPr>
          <a:xfrm>
            <a:off x="292988" y="1971585"/>
            <a:ext cx="4004311" cy="1569660"/>
          </a:xfrm>
          <a:prstGeom prst="rect">
            <a:avLst/>
          </a:prstGeom>
          <a:noFill/>
        </p:spPr>
        <p:txBody>
          <a:bodyPr wrap="square">
            <a:spAutoFit/>
          </a:bodyPr>
          <a:lstStyle/>
          <a:p>
            <a:pPr marL="171450" lvl="0" indent="-171450">
              <a:buFont typeface="Arial" panose="020B0604020202020204" pitchFamily="34" charset="0"/>
              <a:buChar char="•"/>
            </a:pPr>
            <a:r>
              <a:rPr lang="en-IN" sz="1200" dirty="0"/>
              <a:t>Older/more experienced agent groups (53-58) show the lowest resolution times for Software and System requests, with the highest satisfaction rate (4.41) despite handling fewer tickets</a:t>
            </a:r>
          </a:p>
          <a:p>
            <a:pPr marL="171450" lvl="0" indent="-171450">
              <a:buFont typeface="Arial" panose="020B0604020202020204" pitchFamily="34" charset="0"/>
              <a:buChar char="•"/>
            </a:pPr>
            <a:r>
              <a:rPr lang="en-IN" sz="1200" dirty="0"/>
              <a:t>Hardware and System requests remain the slowest category across every age group, pointing to task complexity rather than agent demographics as the root driver</a:t>
            </a:r>
          </a:p>
        </p:txBody>
      </p:sp>
      <p:sp>
        <p:nvSpPr>
          <p:cNvPr id="12" name="Text 1">
            <a:extLst>
              <a:ext uri="{FF2B5EF4-FFF2-40B4-BE49-F238E27FC236}">
                <a16:creationId xmlns:a16="http://schemas.microsoft.com/office/drawing/2014/main" id="{7B0344BE-1CEB-563B-5A26-56A3A58DA683}"/>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AGENT SENIORITY DRIVES FASTER, MORE SATISFYING RESOLUTIONS</a:t>
            </a:r>
            <a:endParaRPr lang="en-US" b="1" dirty="0"/>
          </a:p>
        </p:txBody>
      </p:sp>
      <p:graphicFrame>
        <p:nvGraphicFramePr>
          <p:cNvPr id="2" name="Chart 1">
            <a:extLst>
              <a:ext uri="{FF2B5EF4-FFF2-40B4-BE49-F238E27FC236}">
                <a16:creationId xmlns:a16="http://schemas.microsoft.com/office/drawing/2014/main" id="{CF2FDEB9-9F02-BAC3-D8B1-C951741BD0D0}"/>
              </a:ext>
            </a:extLst>
          </p:cNvPr>
          <p:cNvGraphicFramePr>
            <a:graphicFrameLocks/>
          </p:cNvGraphicFramePr>
          <p:nvPr>
            <p:extLst>
              <p:ext uri="{D42A27DB-BD31-4B8C-83A1-F6EECF244321}">
                <p14:modId xmlns:p14="http://schemas.microsoft.com/office/powerpoint/2010/main" val="3459755589"/>
              </p:ext>
            </p:extLst>
          </p:nvPr>
        </p:nvGraphicFramePr>
        <p:xfrm>
          <a:off x="4480559" y="163449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88993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F089-4A2C-C4CC-6B40-F918EC7016BD}"/>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6E6385FA-ECE0-A6D1-418D-C9EFF582095B}"/>
              </a:ext>
            </a:extLst>
          </p:cNvPr>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Shape 0">
            <a:extLst>
              <a:ext uri="{FF2B5EF4-FFF2-40B4-BE49-F238E27FC236}">
                <a16:creationId xmlns:a16="http://schemas.microsoft.com/office/drawing/2014/main" id="{EAFB73E2-A5A5-8782-E10A-AB62D05D4693}"/>
              </a:ext>
            </a:extLst>
          </p:cNvPr>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6" name="Text 1">
            <a:extLst>
              <a:ext uri="{FF2B5EF4-FFF2-40B4-BE49-F238E27FC236}">
                <a16:creationId xmlns:a16="http://schemas.microsoft.com/office/drawing/2014/main" id="{3F312AFD-AFF2-1894-9CE5-DB03F1FF594C}"/>
              </a:ext>
            </a:extLst>
          </p:cNvPr>
          <p:cNvSpPr/>
          <p:nvPr/>
        </p:nvSpPr>
        <p:spPr>
          <a:xfrm>
            <a:off x="548640" y="274320"/>
            <a:ext cx="8412480" cy="5029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Subjective Analysis</a:t>
            </a:r>
            <a:endParaRPr lang="en-US" sz="2800" dirty="0"/>
          </a:p>
        </p:txBody>
      </p:sp>
      <p:sp>
        <p:nvSpPr>
          <p:cNvPr id="9" name="TextBox 8">
            <a:extLst>
              <a:ext uri="{FF2B5EF4-FFF2-40B4-BE49-F238E27FC236}">
                <a16:creationId xmlns:a16="http://schemas.microsoft.com/office/drawing/2014/main" id="{B648FB63-E733-D109-A9B9-A2DE9C4E1AB2}"/>
              </a:ext>
            </a:extLst>
          </p:cNvPr>
          <p:cNvSpPr txBox="1"/>
          <p:nvPr/>
        </p:nvSpPr>
        <p:spPr>
          <a:xfrm>
            <a:off x="292988" y="1971585"/>
            <a:ext cx="4004311" cy="1200329"/>
          </a:xfrm>
          <a:prstGeom prst="rect">
            <a:avLst/>
          </a:prstGeom>
          <a:noFill/>
        </p:spPr>
        <p:txBody>
          <a:bodyPr wrap="square">
            <a:spAutoFit/>
          </a:bodyPr>
          <a:lstStyle/>
          <a:p>
            <a:pPr marL="171450" lvl="0" indent="-171450">
              <a:buFont typeface="Arial" panose="020B0604020202020204" pitchFamily="34" charset="0"/>
              <a:buChar char="•"/>
            </a:pPr>
            <a:r>
              <a:rPr lang="en-IN" sz="1200" dirty="0"/>
              <a:t>Ticket volume more than doubled from 13,051 (2016) to 29,088 (2020), yet satisfaction climbed in parallel from 3.98 to 4.16 — no sign of service strain</a:t>
            </a:r>
          </a:p>
          <a:p>
            <a:pPr marL="171450" lvl="0" indent="-171450">
              <a:buFont typeface="Arial" panose="020B0604020202020204" pitchFamily="34" charset="0"/>
              <a:buChar char="•"/>
            </a:pPr>
            <a:r>
              <a:rPr lang="en-IN" sz="1200" dirty="0"/>
              <a:t>2020 marks the peak year for both volume and satisfaction, showing IT support scaled effectively despite the heaviest workload</a:t>
            </a:r>
          </a:p>
        </p:txBody>
      </p:sp>
      <p:sp>
        <p:nvSpPr>
          <p:cNvPr id="12" name="Text 1">
            <a:extLst>
              <a:ext uri="{FF2B5EF4-FFF2-40B4-BE49-F238E27FC236}">
                <a16:creationId xmlns:a16="http://schemas.microsoft.com/office/drawing/2014/main" id="{06503B9B-C9C5-178D-B526-5111A0CF69B1}"/>
              </a:ext>
            </a:extLst>
          </p:cNvPr>
          <p:cNvSpPr/>
          <p:nvPr/>
        </p:nvSpPr>
        <p:spPr>
          <a:xfrm>
            <a:off x="397764" y="900231"/>
            <a:ext cx="8412480" cy="502920"/>
          </a:xfrm>
          <a:prstGeom prst="rect">
            <a:avLst/>
          </a:prstGeom>
          <a:noFill/>
          <a:ln/>
        </p:spPr>
        <p:txBody>
          <a:bodyPr wrap="square" lIns="0" tIns="0" rIns="0" bIns="0" rtlCol="0" anchor="ctr"/>
          <a:lstStyle/>
          <a:p>
            <a:pPr algn="ctr">
              <a:defRPr sz="1400" b="0" i="0" u="none" strike="noStrike" kern="1200" spc="0" baseline="0">
                <a:solidFill>
                  <a:prstClr val="white">
                    <a:lumMod val="65000"/>
                    <a:lumOff val="35000"/>
                  </a:prstClr>
                </a:solidFill>
                <a:latin typeface="+mn-lt"/>
                <a:ea typeface="+mn-ea"/>
                <a:cs typeface="+mn-cs"/>
              </a:defRPr>
            </a:pPr>
            <a:r>
              <a:rPr lang="en-IN" sz="1600" b="1" dirty="0"/>
              <a:t>RISING TICKET VOLUME, RISING SATISFACTION YEAR-ON-YEAR</a:t>
            </a:r>
            <a:endParaRPr lang="en-US" b="1" dirty="0"/>
          </a:p>
        </p:txBody>
      </p:sp>
      <p:graphicFrame>
        <p:nvGraphicFramePr>
          <p:cNvPr id="5" name="Chart 4">
            <a:extLst>
              <a:ext uri="{FF2B5EF4-FFF2-40B4-BE49-F238E27FC236}">
                <a16:creationId xmlns:a16="http://schemas.microsoft.com/office/drawing/2014/main" id="{B5261165-FA93-7125-0CA2-9F4799483C39}"/>
              </a:ext>
            </a:extLst>
          </p:cNvPr>
          <p:cNvGraphicFramePr>
            <a:graphicFrameLocks/>
          </p:cNvGraphicFramePr>
          <p:nvPr>
            <p:extLst>
              <p:ext uri="{D42A27DB-BD31-4B8C-83A1-F6EECF244321}">
                <p14:modId xmlns:p14="http://schemas.microsoft.com/office/powerpoint/2010/main" val="3370188879"/>
              </p:ext>
            </p:extLst>
          </p:nvPr>
        </p:nvGraphicFramePr>
        <p:xfrm>
          <a:off x="5263133" y="1519593"/>
          <a:ext cx="3355087" cy="34507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86945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3" name="Text 1"/>
          <p:cNvSpPr/>
          <p:nvPr/>
        </p:nvSpPr>
        <p:spPr>
          <a:xfrm>
            <a:off x="548640" y="274320"/>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Key Recommendations</a:t>
            </a:r>
            <a:endParaRPr lang="en-US" sz="2800" dirty="0"/>
          </a:p>
        </p:txBody>
      </p:sp>
      <p:sp>
        <p:nvSpPr>
          <p:cNvPr id="4" name="Shape 2"/>
          <p:cNvSpPr/>
          <p:nvPr/>
        </p:nvSpPr>
        <p:spPr>
          <a:xfrm>
            <a:off x="274320" y="960120"/>
            <a:ext cx="8595360" cy="1261872"/>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5" name="Shape 3"/>
          <p:cNvSpPr/>
          <p:nvPr/>
        </p:nvSpPr>
        <p:spPr>
          <a:xfrm>
            <a:off x="274320" y="960120"/>
            <a:ext cx="73152" cy="1261872"/>
          </a:xfrm>
          <a:prstGeom prst="rect">
            <a:avLst/>
          </a:prstGeom>
          <a:solidFill>
            <a:srgbClr val="00C6D7"/>
          </a:solidFill>
          <a:ln w="12700">
            <a:solidFill>
              <a:srgbClr val="00C6D7"/>
            </a:solidFill>
            <a:prstDash val="solid"/>
          </a:ln>
        </p:spPr>
        <p:txBody>
          <a:bodyPr/>
          <a:lstStyle/>
          <a:p>
            <a:endParaRPr lang="en-IN"/>
          </a:p>
        </p:txBody>
      </p:sp>
      <p:sp>
        <p:nvSpPr>
          <p:cNvPr id="6" name="Shape 4"/>
          <p:cNvSpPr/>
          <p:nvPr/>
        </p:nvSpPr>
        <p:spPr>
          <a:xfrm>
            <a:off x="457200" y="1097280"/>
            <a:ext cx="411480" cy="411480"/>
          </a:xfrm>
          <a:prstGeom prst="ellipse">
            <a:avLst/>
          </a:prstGeom>
          <a:solidFill>
            <a:srgbClr val="00C6D7"/>
          </a:solidFill>
          <a:ln w="12700">
            <a:solidFill>
              <a:srgbClr val="00C6D7"/>
            </a:solidFill>
            <a:prstDash val="solid"/>
          </a:ln>
        </p:spPr>
        <p:txBody>
          <a:bodyPr/>
          <a:lstStyle/>
          <a:p>
            <a:endParaRPr lang="en-IN"/>
          </a:p>
        </p:txBody>
      </p:sp>
      <p:sp>
        <p:nvSpPr>
          <p:cNvPr id="7" name="Text 5"/>
          <p:cNvSpPr/>
          <p:nvPr/>
        </p:nvSpPr>
        <p:spPr>
          <a:xfrm>
            <a:off x="457200" y="1097280"/>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1005840" y="1051560"/>
            <a:ext cx="411480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Invest in Technology &amp; Automation</a:t>
            </a:r>
            <a:endParaRPr lang="en-US" sz="1600" dirty="0"/>
          </a:p>
        </p:txBody>
      </p:sp>
      <p:sp>
        <p:nvSpPr>
          <p:cNvPr id="9" name="Text 7"/>
          <p:cNvSpPr/>
          <p:nvPr/>
        </p:nvSpPr>
        <p:spPr>
          <a:xfrm>
            <a:off x="1005840" y="1399032"/>
            <a:ext cx="4114800" cy="6400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Why: Hardware (7.6d) and System (6.6d) resolution times are excessive. Better routing software reduces these significantly.</a:t>
            </a:r>
            <a:endParaRPr lang="en-US" sz="1200" dirty="0"/>
          </a:p>
        </p:txBody>
      </p:sp>
      <p:sp>
        <p:nvSpPr>
          <p:cNvPr id="10" name="Text 8"/>
          <p:cNvSpPr/>
          <p:nvPr/>
        </p:nvSpPr>
        <p:spPr>
          <a:xfrm>
            <a:off x="5303520" y="1051560"/>
            <a:ext cx="3383280" cy="228600"/>
          </a:xfrm>
          <a:prstGeom prst="rect">
            <a:avLst/>
          </a:prstGeom>
          <a:noFill/>
          <a:ln/>
        </p:spPr>
        <p:txBody>
          <a:bodyPr wrap="square" rtlCol="0" anchor="ctr"/>
          <a:lstStyle/>
          <a:p>
            <a:pPr marL="0" indent="0">
              <a:buNone/>
            </a:pPr>
            <a:r>
              <a:rPr lang="en-US" sz="1200" b="1" dirty="0">
                <a:solidFill>
                  <a:srgbClr val="00C6D7"/>
                </a:solidFill>
                <a:latin typeface="Calibri" pitchFamily="34" charset="0"/>
                <a:ea typeface="Calibri" pitchFamily="34" charset="-122"/>
                <a:cs typeface="Calibri" pitchFamily="34" charset="-120"/>
              </a:rPr>
              <a:t>Expected Impact:</a:t>
            </a:r>
            <a:endParaRPr lang="en-US" sz="1200" dirty="0"/>
          </a:p>
        </p:txBody>
      </p:sp>
      <p:sp>
        <p:nvSpPr>
          <p:cNvPr id="11" name="Text 9"/>
          <p:cNvSpPr/>
          <p:nvPr/>
        </p:nvSpPr>
        <p:spPr>
          <a:xfrm>
            <a:off x="5303520" y="1298448"/>
            <a:ext cx="3383280" cy="822960"/>
          </a:xfrm>
          <a:prstGeom prst="rect">
            <a:avLst/>
          </a:prstGeom>
          <a:noFill/>
          <a:ln/>
        </p:spPr>
        <p:txBody>
          <a:bodyPr wrap="square" rtlCol="0" anchor="t"/>
          <a:lstStyle/>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Faster ticket resolution</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Reduced agent workload</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Improved satisfaction scores</a:t>
            </a:r>
            <a:endParaRPr lang="en-US" sz="1200" dirty="0"/>
          </a:p>
        </p:txBody>
      </p:sp>
      <p:sp>
        <p:nvSpPr>
          <p:cNvPr id="12" name="Shape 10"/>
          <p:cNvSpPr/>
          <p:nvPr/>
        </p:nvSpPr>
        <p:spPr>
          <a:xfrm>
            <a:off x="274320" y="2313432"/>
            <a:ext cx="8595360" cy="1261872"/>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274320" y="2313432"/>
            <a:ext cx="73152" cy="1261872"/>
          </a:xfrm>
          <a:prstGeom prst="rect">
            <a:avLst/>
          </a:prstGeom>
          <a:solidFill>
            <a:srgbClr val="F5A623"/>
          </a:solidFill>
          <a:ln w="12700">
            <a:solidFill>
              <a:srgbClr val="F5A623"/>
            </a:solidFill>
            <a:prstDash val="solid"/>
          </a:ln>
        </p:spPr>
        <p:txBody>
          <a:bodyPr/>
          <a:lstStyle/>
          <a:p>
            <a:endParaRPr lang="en-IN"/>
          </a:p>
        </p:txBody>
      </p:sp>
      <p:sp>
        <p:nvSpPr>
          <p:cNvPr id="14" name="Shape 12"/>
          <p:cNvSpPr/>
          <p:nvPr/>
        </p:nvSpPr>
        <p:spPr>
          <a:xfrm>
            <a:off x="457200" y="2450592"/>
            <a:ext cx="411480" cy="411480"/>
          </a:xfrm>
          <a:prstGeom prst="ellipse">
            <a:avLst/>
          </a:prstGeom>
          <a:solidFill>
            <a:srgbClr val="F5A623"/>
          </a:solidFill>
          <a:ln w="12700">
            <a:solidFill>
              <a:srgbClr val="F5A623"/>
            </a:solidFill>
            <a:prstDash val="solid"/>
          </a:ln>
        </p:spPr>
        <p:txBody>
          <a:bodyPr/>
          <a:lstStyle/>
          <a:p>
            <a:endParaRPr lang="en-IN"/>
          </a:p>
        </p:txBody>
      </p:sp>
      <p:sp>
        <p:nvSpPr>
          <p:cNvPr id="15" name="Text 13"/>
          <p:cNvSpPr/>
          <p:nvPr/>
        </p:nvSpPr>
        <p:spPr>
          <a:xfrm>
            <a:off x="457200" y="2450592"/>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1005840" y="2404872"/>
            <a:ext cx="411480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Strengthen Agent Training Programs</a:t>
            </a:r>
            <a:endParaRPr lang="en-US" sz="1600" dirty="0"/>
          </a:p>
        </p:txBody>
      </p:sp>
      <p:sp>
        <p:nvSpPr>
          <p:cNvPr id="17" name="Text 15"/>
          <p:cNvSpPr/>
          <p:nvPr/>
        </p:nvSpPr>
        <p:spPr>
          <a:xfrm>
            <a:off x="1005840" y="2752344"/>
            <a:ext cx="4114800" cy="6400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Why: 14 agents show high resolution time + low satisfaction — a pattern indicating skill gaps, not headcount issues.</a:t>
            </a:r>
            <a:endParaRPr lang="en-US" sz="1200" dirty="0"/>
          </a:p>
        </p:txBody>
      </p:sp>
      <p:sp>
        <p:nvSpPr>
          <p:cNvPr id="18" name="Text 16"/>
          <p:cNvSpPr/>
          <p:nvPr/>
        </p:nvSpPr>
        <p:spPr>
          <a:xfrm>
            <a:off x="5303520" y="2404872"/>
            <a:ext cx="3383280" cy="228600"/>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Expected Impact:</a:t>
            </a:r>
            <a:endParaRPr lang="en-US" sz="1200" dirty="0"/>
          </a:p>
        </p:txBody>
      </p:sp>
      <p:sp>
        <p:nvSpPr>
          <p:cNvPr id="19" name="Text 17"/>
          <p:cNvSpPr/>
          <p:nvPr/>
        </p:nvSpPr>
        <p:spPr>
          <a:xfrm>
            <a:off x="5303520" y="2651760"/>
            <a:ext cx="3383280" cy="822960"/>
          </a:xfrm>
          <a:prstGeom prst="rect">
            <a:avLst/>
          </a:prstGeom>
          <a:noFill/>
          <a:ln/>
        </p:spPr>
        <p:txBody>
          <a:bodyPr wrap="square" rtlCol="0" anchor="t"/>
          <a:lstStyle/>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Close performance gaps without hiring</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Consistent service quality</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Higher team-wide satisfaction</a:t>
            </a:r>
            <a:endParaRPr lang="en-US" sz="1200" dirty="0"/>
          </a:p>
        </p:txBody>
      </p:sp>
      <p:sp>
        <p:nvSpPr>
          <p:cNvPr id="20" name="Shape 18"/>
          <p:cNvSpPr/>
          <p:nvPr/>
        </p:nvSpPr>
        <p:spPr>
          <a:xfrm>
            <a:off x="274320" y="3666744"/>
            <a:ext cx="8595360" cy="1261872"/>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274320" y="3666744"/>
            <a:ext cx="73152" cy="1261872"/>
          </a:xfrm>
          <a:prstGeom prst="rect">
            <a:avLst/>
          </a:prstGeom>
          <a:solidFill>
            <a:srgbClr val="2ECC71"/>
          </a:solidFill>
          <a:ln w="12700">
            <a:solidFill>
              <a:srgbClr val="2ECC71"/>
            </a:solidFill>
            <a:prstDash val="solid"/>
          </a:ln>
        </p:spPr>
        <p:txBody>
          <a:bodyPr/>
          <a:lstStyle/>
          <a:p>
            <a:endParaRPr lang="en-IN"/>
          </a:p>
        </p:txBody>
      </p:sp>
      <p:sp>
        <p:nvSpPr>
          <p:cNvPr id="22" name="Shape 20"/>
          <p:cNvSpPr/>
          <p:nvPr/>
        </p:nvSpPr>
        <p:spPr>
          <a:xfrm>
            <a:off x="457200" y="3803904"/>
            <a:ext cx="411480" cy="411480"/>
          </a:xfrm>
          <a:prstGeom prst="ellipse">
            <a:avLst/>
          </a:prstGeom>
          <a:solidFill>
            <a:srgbClr val="2ECC71"/>
          </a:solidFill>
          <a:ln w="12700">
            <a:solidFill>
              <a:srgbClr val="2ECC71"/>
            </a:solidFill>
            <a:prstDash val="solid"/>
          </a:ln>
        </p:spPr>
        <p:txBody>
          <a:bodyPr/>
          <a:lstStyle/>
          <a:p>
            <a:endParaRPr lang="en-IN"/>
          </a:p>
        </p:txBody>
      </p:sp>
      <p:sp>
        <p:nvSpPr>
          <p:cNvPr id="23" name="Text 21"/>
          <p:cNvSpPr/>
          <p:nvPr/>
        </p:nvSpPr>
        <p:spPr>
          <a:xfrm>
            <a:off x="457200" y="3803904"/>
            <a:ext cx="411480" cy="411480"/>
          </a:xfrm>
          <a:prstGeom prst="rect">
            <a:avLst/>
          </a:prstGeom>
          <a:noFill/>
          <a:ln/>
        </p:spPr>
        <p:txBody>
          <a:bodyPr wrap="square" lIns="0" tIns="0" rIns="0" bIns="0" rtlCol="0" anchor="ctr"/>
          <a:lstStyle/>
          <a:p>
            <a:pPr marL="0" indent="0" algn="ctr">
              <a:buNone/>
            </a:pPr>
            <a:r>
              <a:rPr lang="en-US" sz="1100" b="1" dirty="0">
                <a:solidFill>
                  <a:srgbClr val="0F1B2D"/>
                </a:solidFill>
                <a:latin typeface="Calibri" pitchFamily="34" charset="0"/>
                <a:ea typeface="Calibri" pitchFamily="34" charset="-122"/>
                <a:cs typeface="Calibri" pitchFamily="34" charset="-120"/>
              </a:rPr>
              <a:t>03</a:t>
            </a:r>
            <a:endParaRPr lang="en-US" sz="1100" dirty="0"/>
          </a:p>
        </p:txBody>
      </p:sp>
      <p:sp>
        <p:nvSpPr>
          <p:cNvPr id="24" name="Text 22"/>
          <p:cNvSpPr/>
          <p:nvPr/>
        </p:nvSpPr>
        <p:spPr>
          <a:xfrm>
            <a:off x="1005840" y="3758184"/>
            <a:ext cx="411480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Optimize Workforce Planning</a:t>
            </a:r>
            <a:endParaRPr lang="en-US" sz="1600" dirty="0"/>
          </a:p>
        </p:txBody>
      </p:sp>
      <p:sp>
        <p:nvSpPr>
          <p:cNvPr id="25" name="Text 23"/>
          <p:cNvSpPr/>
          <p:nvPr/>
        </p:nvSpPr>
        <p:spPr>
          <a:xfrm>
            <a:off x="1005840" y="4105656"/>
            <a:ext cx="4114800" cy="6400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Why: Ticket volumes grew 123% over 5 years with clear yearly peaks. Planning ahead prevents workload overload.</a:t>
            </a:r>
            <a:endParaRPr lang="en-US" sz="1200" dirty="0"/>
          </a:p>
        </p:txBody>
      </p:sp>
      <p:sp>
        <p:nvSpPr>
          <p:cNvPr id="26" name="Text 24"/>
          <p:cNvSpPr/>
          <p:nvPr/>
        </p:nvSpPr>
        <p:spPr>
          <a:xfrm>
            <a:off x="5303520" y="3758184"/>
            <a:ext cx="3383280" cy="228600"/>
          </a:xfrm>
          <a:prstGeom prst="rect">
            <a:avLst/>
          </a:prstGeom>
          <a:noFill/>
          <a:ln/>
        </p:spPr>
        <p:txBody>
          <a:bodyPr wrap="square"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Expected Impact:</a:t>
            </a:r>
            <a:endParaRPr lang="en-US" sz="1200" dirty="0"/>
          </a:p>
        </p:txBody>
      </p:sp>
      <p:sp>
        <p:nvSpPr>
          <p:cNvPr id="27" name="Text 25"/>
          <p:cNvSpPr/>
          <p:nvPr/>
        </p:nvSpPr>
        <p:spPr>
          <a:xfrm>
            <a:off x="5303520" y="4005072"/>
            <a:ext cx="3383280" cy="822960"/>
          </a:xfrm>
          <a:prstGeom prst="rect">
            <a:avLst/>
          </a:prstGeom>
          <a:noFill/>
          <a:ln/>
        </p:spPr>
        <p:txBody>
          <a:bodyPr wrap="square" rtlCol="0" anchor="t"/>
          <a:lstStyle/>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Better load distribution</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Sustained satisfaction in peaks</a:t>
            </a:r>
            <a:endParaRPr lang="en-US" sz="1200" dirty="0"/>
          </a:p>
          <a:p>
            <a:pPr marL="342900" indent="-342900">
              <a:spcAft>
                <a:spcPts val="300"/>
              </a:spcAft>
              <a:buSzPct val="100000"/>
              <a:buChar char="•"/>
            </a:pPr>
            <a:r>
              <a:rPr lang="en-US" sz="1200" dirty="0">
                <a:solidFill>
                  <a:srgbClr val="C8D8E8"/>
                </a:solidFill>
                <a:latin typeface="Calibri" pitchFamily="34" charset="0"/>
                <a:ea typeface="Calibri" pitchFamily="34" charset="-122"/>
                <a:cs typeface="Calibri" pitchFamily="34" charset="-120"/>
              </a:rPr>
              <a:t>Proactive resource allocation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320040"/>
            <a:ext cx="64008" cy="411480"/>
          </a:xfrm>
          <a:prstGeom prst="rect">
            <a:avLst/>
          </a:prstGeom>
          <a:solidFill>
            <a:srgbClr val="00C6D7"/>
          </a:solidFill>
          <a:ln w="12700">
            <a:solidFill>
              <a:srgbClr val="00C6D7"/>
            </a:solidFill>
            <a:prstDash val="solid"/>
          </a:ln>
        </p:spPr>
        <p:txBody>
          <a:bodyPr/>
          <a:lstStyle/>
          <a:p>
            <a:endParaRPr lang="en-IN"/>
          </a:p>
        </p:txBody>
      </p:sp>
      <p:sp>
        <p:nvSpPr>
          <p:cNvPr id="3" name="Text 1"/>
          <p:cNvSpPr/>
          <p:nvPr/>
        </p:nvSpPr>
        <p:spPr>
          <a:xfrm>
            <a:off x="548640" y="274320"/>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Interactive Dashboard Overview</a:t>
            </a:r>
            <a:endParaRPr lang="en-US" sz="2800" dirty="0"/>
          </a:p>
        </p:txBody>
      </p:sp>
      <p:sp>
        <p:nvSpPr>
          <p:cNvPr id="4" name="Shape 2"/>
          <p:cNvSpPr/>
          <p:nvPr/>
        </p:nvSpPr>
        <p:spPr>
          <a:xfrm>
            <a:off x="338491" y="801258"/>
            <a:ext cx="3219014" cy="4022202"/>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pPr marL="228600" indent="-228600" algn="just">
              <a:buFont typeface="+mj-lt"/>
              <a:buAutoNum type="arabicPeriod"/>
            </a:pPr>
            <a:endParaRPr lang="en-US" sz="1200" dirty="0"/>
          </a:p>
          <a:p>
            <a:pPr marL="228600" indent="-228600" algn="just">
              <a:buFont typeface="+mj-lt"/>
              <a:buAutoNum type="arabicPeriod"/>
            </a:pPr>
            <a:endParaRPr lang="en-US" sz="1200" dirty="0"/>
          </a:p>
          <a:p>
            <a:pPr marL="228600" indent="-228600" algn="just">
              <a:buFont typeface="+mj-lt"/>
              <a:buAutoNum type="arabicPeriod"/>
            </a:pPr>
            <a:endParaRPr lang="en-US" sz="1200" dirty="0"/>
          </a:p>
          <a:p>
            <a:pPr marL="228600" indent="-228600" algn="just">
              <a:buFont typeface="+mj-lt"/>
              <a:buAutoNum type="arabicPeriod"/>
            </a:pPr>
            <a:r>
              <a:rPr lang="en-US" sz="1200" dirty="0"/>
              <a:t>Count of ticket IDs by time.</a:t>
            </a:r>
          </a:p>
          <a:p>
            <a:pPr marL="228600" indent="-228600" algn="just">
              <a:buFont typeface="+mj-lt"/>
              <a:buAutoNum type="arabicPeriod"/>
            </a:pPr>
            <a:r>
              <a:rPr lang="en-US" sz="1200" dirty="0"/>
              <a:t>Count of tickets by request category.</a:t>
            </a:r>
          </a:p>
          <a:p>
            <a:pPr marL="228600" indent="-228600" algn="just">
              <a:buFont typeface="+mj-lt"/>
              <a:buAutoNum type="arabicPeriod"/>
            </a:pPr>
            <a:r>
              <a:rPr lang="en-US" sz="1200" dirty="0"/>
              <a:t>Satisfaction rate by time</a:t>
            </a:r>
          </a:p>
          <a:p>
            <a:pPr marL="228600" indent="-228600" algn="just">
              <a:buFont typeface="+mj-lt"/>
              <a:buAutoNum type="arabicPeriod"/>
            </a:pPr>
            <a:r>
              <a:rPr lang="en-US" sz="1200" dirty="0"/>
              <a:t>Age group by satisfaction rate.</a:t>
            </a:r>
          </a:p>
          <a:p>
            <a:pPr marL="228600" indent="-228600" algn="just">
              <a:buFont typeface="+mj-lt"/>
              <a:buAutoNum type="arabicPeriod"/>
            </a:pPr>
            <a:r>
              <a:rPr lang="en-US" sz="1200" dirty="0"/>
              <a:t>Distribution of tickets based on Resolution time</a:t>
            </a:r>
          </a:p>
          <a:p>
            <a:pPr marL="228600" indent="-228600" algn="just">
              <a:buFont typeface="+mj-lt"/>
              <a:buAutoNum type="arabicPeriod"/>
            </a:pPr>
            <a:r>
              <a:rPr lang="en-US" sz="1200" dirty="0"/>
              <a:t>Agents Needs Training</a:t>
            </a:r>
          </a:p>
          <a:p>
            <a:pPr marL="228600" indent="-228600" algn="just">
              <a:buFont typeface="+mj-lt"/>
              <a:buAutoNum type="arabicPeriod"/>
            </a:pPr>
            <a:r>
              <a:rPr lang="en-US" sz="1200" dirty="0"/>
              <a:t>Tool Effectiveness Vs IT Tickets</a:t>
            </a:r>
          </a:p>
          <a:p>
            <a:pPr marL="228600" indent="-228600" algn="just">
              <a:buFont typeface="+mj-lt"/>
              <a:buAutoNum type="arabicPeriod"/>
            </a:pPr>
            <a:r>
              <a:rPr lang="en-US" sz="1200" dirty="0"/>
              <a:t>Employee Demographic Vs Avg Resolution Time</a:t>
            </a:r>
          </a:p>
          <a:p>
            <a:pPr marL="228600" indent="-228600" algn="just">
              <a:buFont typeface="+mj-lt"/>
              <a:buAutoNum type="arabicPeriod"/>
            </a:pPr>
            <a:r>
              <a:rPr lang="en-US" sz="1200" dirty="0"/>
              <a:t>Ticket by severity rate.</a:t>
            </a:r>
          </a:p>
          <a:p>
            <a:pPr marL="228600" indent="-228600" algn="just">
              <a:buFont typeface="+mj-lt"/>
              <a:buAutoNum type="arabicPeriod"/>
            </a:pPr>
            <a:r>
              <a:rPr lang="en-US" sz="1200" dirty="0"/>
              <a:t>Ticket by priority</a:t>
            </a:r>
          </a:p>
          <a:p>
            <a:pPr marL="228600" indent="-228600" algn="just">
              <a:buFont typeface="+mj-lt"/>
              <a:buAutoNum type="arabicPeriod"/>
            </a:pPr>
            <a:r>
              <a:rPr lang="en-US" sz="1200" dirty="0"/>
              <a:t>Issue type </a:t>
            </a:r>
          </a:p>
          <a:p>
            <a:pPr marL="228600" indent="-228600" algn="just">
              <a:buFont typeface="+mj-lt"/>
              <a:buAutoNum type="arabicPeriod"/>
            </a:pPr>
            <a:r>
              <a:rPr lang="en-US" sz="1200" dirty="0"/>
              <a:t>Average resolution time by request category, quarter-wise</a:t>
            </a:r>
          </a:p>
          <a:p>
            <a:pPr marL="228600" indent="-228600" algn="just">
              <a:buFont typeface="+mj-lt"/>
              <a:buAutoNum type="arabicPeriod"/>
            </a:pPr>
            <a:r>
              <a:rPr lang="en-US" sz="1200" dirty="0"/>
              <a:t>Distribution of tickets based on satisfaction score.</a:t>
            </a:r>
          </a:p>
        </p:txBody>
      </p:sp>
      <p:sp>
        <p:nvSpPr>
          <p:cNvPr id="5" name="Text 3"/>
          <p:cNvSpPr/>
          <p:nvPr/>
        </p:nvSpPr>
        <p:spPr>
          <a:xfrm>
            <a:off x="365760" y="911748"/>
            <a:ext cx="2468880" cy="274320"/>
          </a:xfrm>
          <a:prstGeom prst="rect">
            <a:avLst/>
          </a:prstGeom>
          <a:noFill/>
          <a:ln/>
        </p:spPr>
        <p:txBody>
          <a:bodyPr wrap="square" rtlCol="0" anchor="ctr"/>
          <a:lstStyle/>
          <a:p>
            <a:pPr marL="0" indent="0">
              <a:buNone/>
            </a:pPr>
            <a:r>
              <a:rPr lang="en-US" sz="1600" b="1" dirty="0">
                <a:solidFill>
                  <a:srgbClr val="00C6D7"/>
                </a:solidFill>
                <a:latin typeface="Calibri" pitchFamily="34" charset="0"/>
                <a:ea typeface="Calibri" pitchFamily="34" charset="-122"/>
                <a:cs typeface="Calibri" pitchFamily="34" charset="-120"/>
              </a:rPr>
              <a:t>Dashboard Charts</a:t>
            </a:r>
            <a:endParaRPr lang="en-US" sz="1600" dirty="0"/>
          </a:p>
        </p:txBody>
      </p:sp>
      <p:sp>
        <p:nvSpPr>
          <p:cNvPr id="6" name="Text 4"/>
          <p:cNvSpPr/>
          <p:nvPr/>
        </p:nvSpPr>
        <p:spPr>
          <a:xfrm>
            <a:off x="310200" y="1108710"/>
            <a:ext cx="3314700" cy="2554986"/>
          </a:xfrm>
          <a:prstGeom prst="rect">
            <a:avLst/>
          </a:prstGeom>
          <a:noFill/>
          <a:ln/>
        </p:spPr>
        <p:txBody>
          <a:bodyPr wrap="square" rtlCol="0" anchor="t"/>
          <a:lstStyle/>
          <a:p>
            <a:pPr>
              <a:spcAft>
                <a:spcPts val="500"/>
              </a:spcAft>
            </a:pPr>
            <a:endParaRPr lang="en-US" sz="1200" dirty="0">
              <a:solidFill>
                <a:srgbClr val="C8D8E8"/>
              </a:solidFill>
              <a:latin typeface="Calibri" pitchFamily="34" charset="0"/>
              <a:ea typeface="Calibri" pitchFamily="34" charset="-122"/>
              <a:cs typeface="Calibri" pitchFamily="34" charset="-120"/>
            </a:endParaRPr>
          </a:p>
        </p:txBody>
      </p:sp>
      <p:grpSp>
        <p:nvGrpSpPr>
          <p:cNvPr id="26" name="Group 25">
            <a:extLst>
              <a:ext uri="{FF2B5EF4-FFF2-40B4-BE49-F238E27FC236}">
                <a16:creationId xmlns:a16="http://schemas.microsoft.com/office/drawing/2014/main" id="{61A16FCD-7EC4-60D1-8916-A5980F98C297}"/>
              </a:ext>
            </a:extLst>
          </p:cNvPr>
          <p:cNvGrpSpPr/>
          <p:nvPr/>
        </p:nvGrpSpPr>
        <p:grpSpPr>
          <a:xfrm>
            <a:off x="3785942" y="2272284"/>
            <a:ext cx="4992298" cy="2554986"/>
            <a:chOff x="3200400" y="914400"/>
            <a:chExt cx="5669280" cy="3147060"/>
          </a:xfrm>
        </p:grpSpPr>
        <p:sp>
          <p:nvSpPr>
            <p:cNvPr id="9" name="Shape 7"/>
            <p:cNvSpPr/>
            <p:nvPr/>
          </p:nvSpPr>
          <p:spPr>
            <a:xfrm>
              <a:off x="3200400" y="914400"/>
              <a:ext cx="5669280" cy="314706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8"/>
            <p:cNvSpPr/>
            <p:nvPr/>
          </p:nvSpPr>
          <p:spPr>
            <a:xfrm>
              <a:off x="3383280" y="1005840"/>
              <a:ext cx="5303520" cy="27432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How to Use the Dashboard</a:t>
              </a:r>
              <a:endParaRPr lang="en-US" sz="1300" dirty="0"/>
            </a:p>
          </p:txBody>
        </p:sp>
        <p:sp>
          <p:nvSpPr>
            <p:cNvPr id="11" name="Shape 9"/>
            <p:cNvSpPr/>
            <p:nvPr/>
          </p:nvSpPr>
          <p:spPr>
            <a:xfrm>
              <a:off x="3383280" y="1417320"/>
              <a:ext cx="54864" cy="457200"/>
            </a:xfrm>
            <a:prstGeom prst="rect">
              <a:avLst/>
            </a:prstGeom>
            <a:solidFill>
              <a:srgbClr val="00C6D7"/>
            </a:solidFill>
            <a:ln w="12700">
              <a:solidFill>
                <a:srgbClr val="00C6D7"/>
              </a:solidFill>
              <a:prstDash val="solid"/>
            </a:ln>
          </p:spPr>
          <p:txBody>
            <a:bodyPr/>
            <a:lstStyle/>
            <a:p>
              <a:endParaRPr lang="en-IN"/>
            </a:p>
          </p:txBody>
        </p:sp>
        <p:sp>
          <p:nvSpPr>
            <p:cNvPr id="12" name="Text 10"/>
            <p:cNvSpPr/>
            <p:nvPr/>
          </p:nvSpPr>
          <p:spPr>
            <a:xfrm>
              <a:off x="3566160" y="1371600"/>
              <a:ext cx="512064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Filter by Year</a:t>
              </a:r>
              <a:endParaRPr lang="en-US" sz="1200" dirty="0"/>
            </a:p>
          </p:txBody>
        </p:sp>
        <p:sp>
          <p:nvSpPr>
            <p:cNvPr id="13" name="Text 11"/>
            <p:cNvSpPr/>
            <p:nvPr/>
          </p:nvSpPr>
          <p:spPr>
            <a:xfrm>
              <a:off x="3566160" y="1627632"/>
              <a:ext cx="5120640" cy="32004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Select a specific year to see how ticket volumes and satisfaction evolved over time.</a:t>
              </a:r>
              <a:endParaRPr lang="en-US" sz="1100" dirty="0"/>
            </a:p>
          </p:txBody>
        </p:sp>
        <p:sp>
          <p:nvSpPr>
            <p:cNvPr id="14" name="Shape 12"/>
            <p:cNvSpPr/>
            <p:nvPr/>
          </p:nvSpPr>
          <p:spPr>
            <a:xfrm>
              <a:off x="3383280" y="2075688"/>
              <a:ext cx="54864" cy="457200"/>
            </a:xfrm>
            <a:prstGeom prst="rect">
              <a:avLst/>
            </a:prstGeom>
            <a:solidFill>
              <a:srgbClr val="00C6D7"/>
            </a:solidFill>
            <a:ln w="12700">
              <a:solidFill>
                <a:srgbClr val="00C6D7"/>
              </a:solidFill>
              <a:prstDash val="solid"/>
            </a:ln>
          </p:spPr>
          <p:txBody>
            <a:bodyPr/>
            <a:lstStyle/>
            <a:p>
              <a:endParaRPr lang="en-IN"/>
            </a:p>
          </p:txBody>
        </p:sp>
        <p:sp>
          <p:nvSpPr>
            <p:cNvPr id="15" name="Text 13"/>
            <p:cNvSpPr/>
            <p:nvPr/>
          </p:nvSpPr>
          <p:spPr>
            <a:xfrm>
              <a:off x="3566160" y="2029968"/>
              <a:ext cx="512064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Filter by Severity or Priority</a:t>
              </a:r>
              <a:endParaRPr lang="en-US" sz="1100" dirty="0"/>
            </a:p>
          </p:txBody>
        </p:sp>
        <p:sp>
          <p:nvSpPr>
            <p:cNvPr id="16" name="Text 14"/>
            <p:cNvSpPr/>
            <p:nvPr/>
          </p:nvSpPr>
          <p:spPr>
            <a:xfrm>
              <a:off x="3566160" y="2286000"/>
              <a:ext cx="5120640" cy="320040"/>
            </a:xfrm>
            <a:prstGeom prst="rect">
              <a:avLst/>
            </a:prstGeom>
            <a:noFill/>
            <a:ln/>
          </p:spPr>
          <p:txBody>
            <a:bodyPr wrap="square" rtlCol="0" anchor="ctr"/>
            <a:lstStyle/>
            <a:p>
              <a:pPr marL="0" indent="0">
                <a:buNone/>
              </a:pPr>
              <a:r>
                <a:rPr lang="en-US" sz="1000" dirty="0">
                  <a:solidFill>
                    <a:srgbClr val="C8D8E8"/>
                  </a:solidFill>
                  <a:latin typeface="Calibri" pitchFamily="34" charset="0"/>
                  <a:ea typeface="Calibri" pitchFamily="34" charset="-122"/>
                  <a:cs typeface="Calibri" pitchFamily="34" charset="-120"/>
                </a:rPr>
                <a:t>Isolate high-severity or high-priority tickets to identify where resolution time is longest.</a:t>
              </a:r>
              <a:endParaRPr lang="en-US" sz="1000" dirty="0"/>
            </a:p>
          </p:txBody>
        </p:sp>
        <p:sp>
          <p:nvSpPr>
            <p:cNvPr id="17" name="Shape 15"/>
            <p:cNvSpPr/>
            <p:nvPr/>
          </p:nvSpPr>
          <p:spPr>
            <a:xfrm>
              <a:off x="3383280" y="2734056"/>
              <a:ext cx="54864" cy="457200"/>
            </a:xfrm>
            <a:prstGeom prst="rect">
              <a:avLst/>
            </a:prstGeom>
            <a:solidFill>
              <a:srgbClr val="00C6D7"/>
            </a:solidFill>
            <a:ln w="12700">
              <a:solidFill>
                <a:srgbClr val="00C6D7"/>
              </a:solidFill>
              <a:prstDash val="solid"/>
            </a:ln>
          </p:spPr>
          <p:txBody>
            <a:bodyPr/>
            <a:lstStyle/>
            <a:p>
              <a:endParaRPr lang="en-IN"/>
            </a:p>
          </p:txBody>
        </p:sp>
        <p:sp>
          <p:nvSpPr>
            <p:cNvPr id="18" name="Text 16"/>
            <p:cNvSpPr/>
            <p:nvPr/>
          </p:nvSpPr>
          <p:spPr>
            <a:xfrm>
              <a:off x="3566160" y="2688336"/>
              <a:ext cx="512064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Filter by Category</a:t>
              </a:r>
              <a:endParaRPr lang="en-US" sz="1100" dirty="0"/>
            </a:p>
          </p:txBody>
        </p:sp>
        <p:sp>
          <p:nvSpPr>
            <p:cNvPr id="19" name="Text 17"/>
            <p:cNvSpPr/>
            <p:nvPr/>
          </p:nvSpPr>
          <p:spPr>
            <a:xfrm>
              <a:off x="3566160" y="2944368"/>
              <a:ext cx="5120640" cy="320040"/>
            </a:xfrm>
            <a:prstGeom prst="rect">
              <a:avLst/>
            </a:prstGeom>
            <a:noFill/>
            <a:ln/>
          </p:spPr>
          <p:txBody>
            <a:bodyPr wrap="square" rtlCol="0" anchor="ctr"/>
            <a:lstStyle/>
            <a:p>
              <a:pPr marL="0" indent="0">
                <a:buNone/>
              </a:pPr>
              <a:r>
                <a:rPr lang="en-US" sz="1000" dirty="0">
                  <a:solidFill>
                    <a:srgbClr val="C8D8E8"/>
                  </a:solidFill>
                  <a:latin typeface="Calibri" pitchFamily="34" charset="0"/>
                  <a:ea typeface="Calibri" pitchFamily="34" charset="-122"/>
                  <a:cs typeface="Calibri" pitchFamily="34" charset="-120"/>
                </a:rPr>
                <a:t>Drill into Hardware, Software, System, or Login Access to compare category-specific performance.</a:t>
              </a:r>
              <a:endParaRPr lang="en-US" sz="1000" dirty="0"/>
            </a:p>
          </p:txBody>
        </p:sp>
        <p:sp>
          <p:nvSpPr>
            <p:cNvPr id="20" name="Shape 18"/>
            <p:cNvSpPr/>
            <p:nvPr/>
          </p:nvSpPr>
          <p:spPr>
            <a:xfrm>
              <a:off x="3383280" y="3392424"/>
              <a:ext cx="54864" cy="457200"/>
            </a:xfrm>
            <a:prstGeom prst="rect">
              <a:avLst/>
            </a:prstGeom>
            <a:solidFill>
              <a:srgbClr val="00C6D7"/>
            </a:solidFill>
            <a:ln w="12700">
              <a:solidFill>
                <a:srgbClr val="00C6D7"/>
              </a:solidFill>
              <a:prstDash val="solid"/>
            </a:ln>
          </p:spPr>
          <p:txBody>
            <a:bodyPr/>
            <a:lstStyle/>
            <a:p>
              <a:endParaRPr lang="en-IN"/>
            </a:p>
          </p:txBody>
        </p:sp>
        <p:sp>
          <p:nvSpPr>
            <p:cNvPr id="21" name="Text 19"/>
            <p:cNvSpPr/>
            <p:nvPr/>
          </p:nvSpPr>
          <p:spPr>
            <a:xfrm>
              <a:off x="3566160" y="3346704"/>
              <a:ext cx="512064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Filter by Issue Type</a:t>
              </a:r>
              <a:endParaRPr lang="en-US" sz="1100" dirty="0"/>
            </a:p>
          </p:txBody>
        </p:sp>
        <p:sp>
          <p:nvSpPr>
            <p:cNvPr id="22" name="Text 20"/>
            <p:cNvSpPr/>
            <p:nvPr/>
          </p:nvSpPr>
          <p:spPr>
            <a:xfrm>
              <a:off x="3566160" y="3602736"/>
              <a:ext cx="5120640" cy="320040"/>
            </a:xfrm>
            <a:prstGeom prst="rect">
              <a:avLst/>
            </a:prstGeom>
            <a:noFill/>
            <a:ln/>
          </p:spPr>
          <p:txBody>
            <a:bodyPr wrap="square" rtlCol="0" anchor="ctr"/>
            <a:lstStyle/>
            <a:p>
              <a:pPr marL="0" indent="0">
                <a:buNone/>
              </a:pPr>
              <a:r>
                <a:rPr lang="en-US" sz="1000" dirty="0">
                  <a:solidFill>
                    <a:srgbClr val="C8D8E8"/>
                  </a:solidFill>
                  <a:latin typeface="Calibri" pitchFamily="34" charset="0"/>
                  <a:ea typeface="Calibri" pitchFamily="34" charset="-122"/>
                  <a:cs typeface="Calibri" pitchFamily="34" charset="-120"/>
                </a:rPr>
                <a:t>Toggle between IT Error and IT Request to see the impact on resolution time and satisfaction.</a:t>
              </a:r>
              <a:endParaRPr lang="en-US" sz="1000" dirty="0"/>
            </a:p>
          </p:txBody>
        </p:sp>
      </p:grpSp>
      <p:sp>
        <p:nvSpPr>
          <p:cNvPr id="24" name="Shape 2">
            <a:extLst>
              <a:ext uri="{FF2B5EF4-FFF2-40B4-BE49-F238E27FC236}">
                <a16:creationId xmlns:a16="http://schemas.microsoft.com/office/drawing/2014/main" id="{589D3868-1E36-89AF-FF6A-0078CCB584C3}"/>
              </a:ext>
            </a:extLst>
          </p:cNvPr>
          <p:cNvSpPr/>
          <p:nvPr/>
        </p:nvSpPr>
        <p:spPr>
          <a:xfrm>
            <a:off x="3813211" y="800100"/>
            <a:ext cx="4992298" cy="1359591"/>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7" name="Text 5"/>
          <p:cNvSpPr/>
          <p:nvPr/>
        </p:nvSpPr>
        <p:spPr>
          <a:xfrm>
            <a:off x="3813211" y="801258"/>
            <a:ext cx="2468880" cy="228600"/>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Slicers</a:t>
            </a:r>
            <a:endParaRPr lang="en-US" sz="1200" dirty="0"/>
          </a:p>
        </p:txBody>
      </p:sp>
      <p:sp>
        <p:nvSpPr>
          <p:cNvPr id="8" name="Text 6"/>
          <p:cNvSpPr/>
          <p:nvPr/>
        </p:nvSpPr>
        <p:spPr>
          <a:xfrm>
            <a:off x="4572000" y="917785"/>
            <a:ext cx="4519858" cy="1088299"/>
          </a:xfrm>
          <a:prstGeom prst="rect">
            <a:avLst/>
          </a:prstGeom>
          <a:noFill/>
          <a:ln/>
        </p:spPr>
        <p:txBody>
          <a:bodyPr wrap="square" rtlCol="0" anchor="t"/>
          <a:lstStyle/>
          <a:p>
            <a:pPr marL="342900" indent="-342900">
              <a:spcAft>
                <a:spcPts val="400"/>
              </a:spcAft>
              <a:buSzPct val="100000"/>
              <a:buChar char="•"/>
            </a:pPr>
            <a:r>
              <a:rPr lang="en-US" sz="1200" dirty="0">
                <a:solidFill>
                  <a:srgbClr val="C8D8E8"/>
                </a:solidFill>
                <a:latin typeface="Calibri" pitchFamily="34" charset="0"/>
                <a:ea typeface="Calibri" pitchFamily="34" charset="-122"/>
                <a:cs typeface="Calibri" pitchFamily="34" charset="-120"/>
              </a:rPr>
              <a:t>Year</a:t>
            </a:r>
            <a:endParaRPr lang="en-US" sz="1200" dirty="0"/>
          </a:p>
          <a:p>
            <a:pPr marL="342900" indent="-342900">
              <a:spcAft>
                <a:spcPts val="400"/>
              </a:spcAft>
              <a:buSzPct val="100000"/>
              <a:buChar char="•"/>
            </a:pPr>
            <a:r>
              <a:rPr lang="en-US" sz="1200" dirty="0">
                <a:solidFill>
                  <a:srgbClr val="C8D8E8"/>
                </a:solidFill>
                <a:latin typeface="Calibri" pitchFamily="34" charset="0"/>
                <a:ea typeface="Calibri" pitchFamily="34" charset="-122"/>
                <a:cs typeface="Calibri" pitchFamily="34" charset="-120"/>
              </a:rPr>
              <a:t>Priority</a:t>
            </a:r>
            <a:endParaRPr lang="en-US" sz="1200" dirty="0"/>
          </a:p>
          <a:p>
            <a:pPr marL="342900" indent="-342900">
              <a:spcAft>
                <a:spcPts val="400"/>
              </a:spcAft>
              <a:buSzPct val="100000"/>
              <a:buChar char="•"/>
            </a:pPr>
            <a:r>
              <a:rPr lang="en-US" sz="1200" dirty="0">
                <a:solidFill>
                  <a:srgbClr val="C8D8E8"/>
                </a:solidFill>
                <a:latin typeface="Calibri" pitchFamily="34" charset="0"/>
                <a:ea typeface="Calibri" pitchFamily="34" charset="-122"/>
                <a:cs typeface="Calibri" pitchFamily="34" charset="-120"/>
              </a:rPr>
              <a:t>Severity</a:t>
            </a:r>
            <a:endParaRPr lang="en-US" sz="1200" dirty="0"/>
          </a:p>
          <a:p>
            <a:pPr marL="342900" indent="-342900">
              <a:spcAft>
                <a:spcPts val="400"/>
              </a:spcAft>
              <a:buSzPct val="100000"/>
              <a:buChar char="•"/>
            </a:pPr>
            <a:r>
              <a:rPr lang="en-US" sz="1200" dirty="0">
                <a:solidFill>
                  <a:srgbClr val="C8D8E8"/>
                </a:solidFill>
                <a:latin typeface="Calibri" pitchFamily="34" charset="0"/>
                <a:ea typeface="Calibri" pitchFamily="34" charset="-122"/>
                <a:cs typeface="Calibri" pitchFamily="34" charset="-120"/>
              </a:rPr>
              <a:t>Issue Type</a:t>
            </a:r>
            <a:endParaRPr lang="en-US" sz="1200" dirty="0"/>
          </a:p>
          <a:p>
            <a:pPr marL="342900" indent="-342900">
              <a:spcAft>
                <a:spcPts val="400"/>
              </a:spcAft>
              <a:buSzPct val="100000"/>
              <a:buChar char="•"/>
            </a:pPr>
            <a:r>
              <a:rPr lang="en-US" sz="1200" dirty="0">
                <a:solidFill>
                  <a:srgbClr val="C8D8E8"/>
                </a:solidFill>
                <a:latin typeface="Calibri" pitchFamily="34" charset="0"/>
                <a:ea typeface="Calibri" pitchFamily="34" charset="-122"/>
                <a:cs typeface="Calibri" pitchFamily="34" charset="-120"/>
              </a:rPr>
              <a:t>Request Category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12FE7-EF84-1B2A-4149-C094F22B3E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F03713-F8C3-2C33-4781-94C1A7A92E4C}"/>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363889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09728" cy="5143500"/>
          </a:xfrm>
          <a:prstGeom prst="rect">
            <a:avLst/>
          </a:prstGeom>
          <a:solidFill>
            <a:srgbClr val="00C6D7"/>
          </a:solidFill>
          <a:ln w="12700">
            <a:solidFill>
              <a:srgbClr val="00C6D7"/>
            </a:solidFill>
            <a:prstDash val="solid"/>
          </a:ln>
        </p:spPr>
        <p:txBody>
          <a:bodyPr/>
          <a:lstStyle/>
          <a:p>
            <a:endParaRPr lang="en-IN"/>
          </a:p>
        </p:txBody>
      </p:sp>
      <p:sp>
        <p:nvSpPr>
          <p:cNvPr id="4" name="Text 2"/>
          <p:cNvSpPr/>
          <p:nvPr/>
        </p:nvSpPr>
        <p:spPr>
          <a:xfrm>
            <a:off x="320040" y="201168"/>
            <a:ext cx="8503920" cy="594360"/>
          </a:xfrm>
          <a:prstGeom prst="rect">
            <a:avLst/>
          </a:prstGeom>
          <a:noFill/>
          <a:ln/>
        </p:spPr>
        <p:txBody>
          <a:bodyPr wrap="square"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Conclusion &amp; Summary</a:t>
            </a:r>
            <a:endParaRPr lang="en-US" sz="2800" dirty="0"/>
          </a:p>
        </p:txBody>
      </p:sp>
      <p:sp>
        <p:nvSpPr>
          <p:cNvPr id="5" name="Shape 3"/>
          <p:cNvSpPr/>
          <p:nvPr/>
        </p:nvSpPr>
        <p:spPr>
          <a:xfrm>
            <a:off x="274320" y="1097280"/>
            <a:ext cx="4297680" cy="379476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6" name="Text 4"/>
          <p:cNvSpPr/>
          <p:nvPr/>
        </p:nvSpPr>
        <p:spPr>
          <a:xfrm>
            <a:off x="457200" y="1207008"/>
            <a:ext cx="3931920" cy="274320"/>
          </a:xfrm>
          <a:prstGeom prst="rect">
            <a:avLst/>
          </a:prstGeom>
          <a:noFill/>
          <a:ln/>
        </p:spPr>
        <p:txBody>
          <a:bodyPr wrap="square" rtlCol="0" anchor="ctr"/>
          <a:lstStyle/>
          <a:p>
            <a:pPr marL="0" indent="0">
              <a:buNone/>
            </a:pPr>
            <a:r>
              <a:rPr lang="en-US" sz="1300" b="1" dirty="0">
                <a:solidFill>
                  <a:srgbClr val="00C6D7"/>
                </a:solidFill>
                <a:latin typeface="Calibri" pitchFamily="34" charset="0"/>
                <a:ea typeface="Calibri" pitchFamily="34" charset="-122"/>
                <a:cs typeface="Calibri" pitchFamily="34" charset="-120"/>
              </a:rPr>
              <a:t>Key </a:t>
            </a:r>
            <a:r>
              <a:rPr lang="en-US" sz="1200" b="1" dirty="0">
                <a:solidFill>
                  <a:srgbClr val="00C6D7"/>
                </a:solidFill>
                <a:latin typeface="Calibri" pitchFamily="34" charset="0"/>
                <a:ea typeface="Calibri" pitchFamily="34" charset="-122"/>
                <a:cs typeface="Calibri" pitchFamily="34" charset="-120"/>
              </a:rPr>
              <a:t>Findings</a:t>
            </a:r>
            <a:endParaRPr lang="en-US" sz="1200" dirty="0"/>
          </a:p>
        </p:txBody>
      </p:sp>
      <p:sp>
        <p:nvSpPr>
          <p:cNvPr id="7" name="Text 5"/>
          <p:cNvSpPr/>
          <p:nvPr/>
        </p:nvSpPr>
        <p:spPr>
          <a:xfrm>
            <a:off x="457200" y="1572768"/>
            <a:ext cx="3931920" cy="3200400"/>
          </a:xfrm>
          <a:prstGeom prst="rect">
            <a:avLst/>
          </a:prstGeom>
          <a:noFill/>
          <a:ln/>
        </p:spPr>
        <p:txBody>
          <a:bodyPr wrap="square" rtlCol="0" anchor="t"/>
          <a:lstStyle/>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97,498 tickets analyzed across 5 years (2016–2020) with 50 agents</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Ticket volume grew 123% — demand is accelerating</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Satisfaction improved steadily: 3.98 → 4.16 despite higher volumes</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Hardware requests: 7.63 days avg — highest resolution time by far</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14 agents consistently underperform on satisfaction and resolution time</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Severity-priority mismatches indicate software routing inefficiencies</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Senior agents (53–58) achieve highest satisfaction (4.41)</a:t>
            </a:r>
            <a:endParaRPr lang="en-US" sz="1050" dirty="0"/>
          </a:p>
          <a:p>
            <a:pPr marL="342900" indent="-342900">
              <a:spcAft>
                <a:spcPts val="400"/>
              </a:spcAft>
              <a:buSzPct val="100000"/>
              <a:buChar char="•"/>
            </a:pPr>
            <a:r>
              <a:rPr lang="en-US" sz="1050" dirty="0">
                <a:solidFill>
                  <a:srgbClr val="C8D8E8"/>
                </a:solidFill>
                <a:latin typeface="Calibri" pitchFamily="34" charset="0"/>
                <a:ea typeface="Calibri" pitchFamily="34" charset="-122"/>
                <a:cs typeface="Calibri" pitchFamily="34" charset="-120"/>
              </a:rPr>
              <a:t>80% of tickets rated 4–5 stars — solid overall service quality</a:t>
            </a:r>
            <a:endParaRPr lang="en-US" sz="1050" dirty="0"/>
          </a:p>
        </p:txBody>
      </p:sp>
      <p:sp>
        <p:nvSpPr>
          <p:cNvPr id="8" name="Shape 6"/>
          <p:cNvSpPr/>
          <p:nvPr/>
        </p:nvSpPr>
        <p:spPr>
          <a:xfrm>
            <a:off x="4754880" y="1097280"/>
            <a:ext cx="4160520" cy="3794760"/>
          </a:xfrm>
          <a:prstGeom prst="rect">
            <a:avLst/>
          </a:prstGeom>
          <a:solidFill>
            <a:srgbClr val="1A2B42"/>
          </a:solidFill>
          <a:ln w="12700">
            <a:solidFill>
              <a:srgbClr val="1E3A5C"/>
            </a:solidFill>
            <a:prstDash val="solid"/>
          </a:ln>
          <a:effectLst>
            <a:outerShdw blurRad="101600" dist="38100" dir="8100000" algn="bl" rotWithShape="0">
              <a:srgbClr val="000000">
                <a:alpha val="25000"/>
              </a:srgbClr>
            </a:outerShdw>
          </a:effectLst>
        </p:spPr>
        <p:txBody>
          <a:bodyPr/>
          <a:lstStyle/>
          <a:p>
            <a:endParaRPr lang="en-IN"/>
          </a:p>
        </p:txBody>
      </p:sp>
      <p:sp>
        <p:nvSpPr>
          <p:cNvPr id="9" name="Text 7"/>
          <p:cNvSpPr/>
          <p:nvPr/>
        </p:nvSpPr>
        <p:spPr>
          <a:xfrm>
            <a:off x="4937760" y="1207008"/>
            <a:ext cx="3749040" cy="27432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Final Recommendations</a:t>
            </a:r>
            <a:endParaRPr lang="en-US" sz="1300" dirty="0"/>
          </a:p>
        </p:txBody>
      </p:sp>
      <p:sp>
        <p:nvSpPr>
          <p:cNvPr id="10" name="Shape 8"/>
          <p:cNvSpPr/>
          <p:nvPr/>
        </p:nvSpPr>
        <p:spPr>
          <a:xfrm>
            <a:off x="4937760" y="1645920"/>
            <a:ext cx="256032" cy="256032"/>
          </a:xfrm>
          <a:prstGeom prst="ellipse">
            <a:avLst/>
          </a:prstGeom>
          <a:solidFill>
            <a:srgbClr val="2ECC71"/>
          </a:solidFill>
          <a:ln w="12700">
            <a:solidFill>
              <a:srgbClr val="2ECC71"/>
            </a:solidFill>
            <a:prstDash val="solid"/>
          </a:ln>
        </p:spPr>
        <p:txBody>
          <a:bodyPr/>
          <a:lstStyle/>
          <a:p>
            <a:endParaRPr lang="en-IN"/>
          </a:p>
        </p:txBody>
      </p:sp>
      <p:sp>
        <p:nvSpPr>
          <p:cNvPr id="11" name="Text 9"/>
          <p:cNvSpPr/>
          <p:nvPr/>
        </p:nvSpPr>
        <p:spPr>
          <a:xfrm>
            <a:off x="5303520" y="1572768"/>
            <a:ext cx="3429000" cy="4572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Upgrade ticket management software with AI routing</a:t>
            </a:r>
            <a:endParaRPr lang="en-US" sz="1100" dirty="0"/>
          </a:p>
        </p:txBody>
      </p:sp>
      <p:sp>
        <p:nvSpPr>
          <p:cNvPr id="12" name="Shape 10"/>
          <p:cNvSpPr/>
          <p:nvPr/>
        </p:nvSpPr>
        <p:spPr>
          <a:xfrm>
            <a:off x="4937760" y="2212848"/>
            <a:ext cx="256032" cy="256032"/>
          </a:xfrm>
          <a:prstGeom prst="ellipse">
            <a:avLst/>
          </a:prstGeom>
          <a:solidFill>
            <a:srgbClr val="F5A623"/>
          </a:solidFill>
          <a:ln w="12700">
            <a:solidFill>
              <a:srgbClr val="F5A623"/>
            </a:solidFill>
            <a:prstDash val="solid"/>
          </a:ln>
        </p:spPr>
        <p:txBody>
          <a:bodyPr/>
          <a:lstStyle/>
          <a:p>
            <a:endParaRPr lang="en-IN"/>
          </a:p>
        </p:txBody>
      </p:sp>
      <p:sp>
        <p:nvSpPr>
          <p:cNvPr id="13" name="Text 11"/>
          <p:cNvSpPr/>
          <p:nvPr/>
        </p:nvSpPr>
        <p:spPr>
          <a:xfrm>
            <a:off x="5303520" y="2139696"/>
            <a:ext cx="3429000" cy="4572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Implement targeted training for the 8 underperforming agents</a:t>
            </a:r>
            <a:endParaRPr lang="en-US" sz="1100" dirty="0"/>
          </a:p>
        </p:txBody>
      </p:sp>
      <p:sp>
        <p:nvSpPr>
          <p:cNvPr id="14" name="Shape 12"/>
          <p:cNvSpPr/>
          <p:nvPr/>
        </p:nvSpPr>
        <p:spPr>
          <a:xfrm>
            <a:off x="4937760" y="2779776"/>
            <a:ext cx="256032" cy="256032"/>
          </a:xfrm>
          <a:prstGeom prst="ellipse">
            <a:avLst/>
          </a:prstGeom>
          <a:solidFill>
            <a:srgbClr val="00C6D7"/>
          </a:solidFill>
          <a:ln w="12700">
            <a:solidFill>
              <a:srgbClr val="00C6D7"/>
            </a:solidFill>
            <a:prstDash val="solid"/>
          </a:ln>
        </p:spPr>
        <p:txBody>
          <a:bodyPr/>
          <a:lstStyle/>
          <a:p>
            <a:endParaRPr lang="en-IN"/>
          </a:p>
        </p:txBody>
      </p:sp>
      <p:sp>
        <p:nvSpPr>
          <p:cNvPr id="15" name="Text 13"/>
          <p:cNvSpPr/>
          <p:nvPr/>
        </p:nvSpPr>
        <p:spPr>
          <a:xfrm>
            <a:off x="5303520" y="2706624"/>
            <a:ext cx="3429000" cy="4572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Use data-driven shift planning for peak periods</a:t>
            </a:r>
            <a:endParaRPr lang="en-US" sz="1100" dirty="0"/>
          </a:p>
        </p:txBody>
      </p:sp>
      <p:sp>
        <p:nvSpPr>
          <p:cNvPr id="16" name="Shape 14"/>
          <p:cNvSpPr/>
          <p:nvPr/>
        </p:nvSpPr>
        <p:spPr>
          <a:xfrm>
            <a:off x="4937760" y="3346704"/>
            <a:ext cx="256032" cy="256032"/>
          </a:xfrm>
          <a:prstGeom prst="ellipse">
            <a:avLst/>
          </a:prstGeom>
          <a:solidFill>
            <a:srgbClr val="E74C3C"/>
          </a:solidFill>
          <a:ln w="12700">
            <a:solidFill>
              <a:srgbClr val="E74C3C"/>
            </a:solidFill>
            <a:prstDash val="solid"/>
          </a:ln>
        </p:spPr>
        <p:txBody>
          <a:bodyPr/>
          <a:lstStyle/>
          <a:p>
            <a:endParaRPr lang="en-IN"/>
          </a:p>
        </p:txBody>
      </p:sp>
      <p:sp>
        <p:nvSpPr>
          <p:cNvPr id="17" name="Text 15"/>
          <p:cNvSpPr/>
          <p:nvPr/>
        </p:nvSpPr>
        <p:spPr>
          <a:xfrm>
            <a:off x="5303520" y="3273552"/>
            <a:ext cx="3429000" cy="4572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Monitor severity-to-priority alignment continuously</a:t>
            </a:r>
            <a:endParaRPr lang="en-US" sz="1100" dirty="0"/>
          </a:p>
        </p:txBody>
      </p:sp>
      <p:sp>
        <p:nvSpPr>
          <p:cNvPr id="18" name="Shape 16"/>
          <p:cNvSpPr/>
          <p:nvPr/>
        </p:nvSpPr>
        <p:spPr>
          <a:xfrm>
            <a:off x="4937760" y="3913632"/>
            <a:ext cx="256032" cy="256032"/>
          </a:xfrm>
          <a:prstGeom prst="ellipse">
            <a:avLst/>
          </a:prstGeom>
          <a:solidFill>
            <a:srgbClr val="9B59B6"/>
          </a:solidFill>
          <a:ln w="12700">
            <a:solidFill>
              <a:srgbClr val="9B59B6"/>
            </a:solidFill>
            <a:prstDash val="solid"/>
          </a:ln>
        </p:spPr>
        <p:txBody>
          <a:bodyPr/>
          <a:lstStyle/>
          <a:p>
            <a:endParaRPr lang="en-IN"/>
          </a:p>
        </p:txBody>
      </p:sp>
      <p:sp>
        <p:nvSpPr>
          <p:cNvPr id="19" name="Text 17"/>
          <p:cNvSpPr/>
          <p:nvPr/>
        </p:nvSpPr>
        <p:spPr>
          <a:xfrm>
            <a:off x="5303520" y="3840480"/>
            <a:ext cx="3429000" cy="4572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Leverage senior agents as mentors for complex categories</a:t>
            </a:r>
            <a:endParaRPr lang="en-US" sz="1100" dirty="0"/>
          </a:p>
        </p:txBody>
      </p:sp>
      <p:sp>
        <p:nvSpPr>
          <p:cNvPr id="20" name="Shape 18"/>
          <p:cNvSpPr/>
          <p:nvPr/>
        </p:nvSpPr>
        <p:spPr>
          <a:xfrm>
            <a:off x="292608" y="4425696"/>
            <a:ext cx="8595360" cy="512064"/>
          </a:xfrm>
          <a:prstGeom prst="rect">
            <a:avLst/>
          </a:prstGeom>
          <a:solidFill>
            <a:srgbClr val="071220"/>
          </a:solidFill>
          <a:ln w="12700">
            <a:solidFill>
              <a:srgbClr val="00C6D7"/>
            </a:solidFill>
            <a:prstDash val="solid"/>
          </a:ln>
        </p:spPr>
        <p:txBody>
          <a:bodyPr/>
          <a:lstStyle/>
          <a:p>
            <a:endParaRPr lang="en-IN"/>
          </a:p>
        </p:txBody>
      </p:sp>
      <p:sp>
        <p:nvSpPr>
          <p:cNvPr id="21" name="Text 19"/>
          <p:cNvSpPr/>
          <p:nvPr/>
        </p:nvSpPr>
        <p:spPr>
          <a:xfrm>
            <a:off x="502920" y="4521708"/>
            <a:ext cx="8229600" cy="274320"/>
          </a:xfrm>
          <a:prstGeom prst="rect">
            <a:avLst/>
          </a:prstGeom>
          <a:noFill/>
          <a:ln/>
        </p:spPr>
        <p:txBody>
          <a:bodyPr wrap="square" lIns="0" tIns="0" rIns="0" bIns="0" rtlCol="0" anchor="ctr"/>
          <a:lstStyle/>
          <a:p>
            <a:pPr marL="0" indent="0" algn="ctr">
              <a:buNone/>
            </a:pPr>
            <a:r>
              <a:rPr lang="en-US" sz="1200" dirty="0">
                <a:solidFill>
                  <a:srgbClr val="C8D8E8"/>
                </a:solidFill>
                <a:latin typeface="Calibri" pitchFamily="34" charset="0"/>
                <a:ea typeface="Calibri" pitchFamily="34" charset="-122"/>
                <a:cs typeface="Calibri" pitchFamily="34" charset="-120"/>
              </a:rPr>
              <a:t>By leveraging data-driven insights and interactive dashboards, organizations can improve IT service efficiency, enhance satisfaction, and make smarter investment decisions.</a:t>
            </a:r>
            <a:endParaRPr lang="en-US" sz="12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1145</TotalTime>
  <Words>1913</Words>
  <Application>Microsoft Office PowerPoint</Application>
  <PresentationFormat>On-screen Show (16:9)</PresentationFormat>
  <Paragraphs>217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Support Ticket Analysis &amp; Performance Dashboard</dc:title>
  <dc:subject>PptxGenJS Presentation</dc:subject>
  <dc:creator>PptxGenJS</dc:creator>
  <cp:lastModifiedBy>Haripriya MC</cp:lastModifiedBy>
  <cp:revision>36</cp:revision>
  <dcterms:created xsi:type="dcterms:W3CDTF">2026-03-12T16:15:27Z</dcterms:created>
  <dcterms:modified xsi:type="dcterms:W3CDTF">2026-08-18T17:46:10Z</dcterms:modified>
</cp:coreProperties>
</file>